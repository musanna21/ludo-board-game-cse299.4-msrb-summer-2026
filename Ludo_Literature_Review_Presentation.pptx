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340"/>
        </a:solidFill>
      </p:bgPr>
    </p:bg>
    <p:spTree>
      <p:nvGrpSpPr>
        <p:cNvPr id="1" name=""/>
        <p:cNvGrpSpPr/>
        <p:nvPr/>
      </p:nvGrpSpPr>
      <p:grpSpPr>
        <a:xfrm>
          <a:off x="0" y="0"/>
          <a:ext cx="0" cy="0"/>
          <a:chOff x="0" y="0"/>
          <a:chExt cx="0" cy="0"/>
        </a:xfrm>
      </p:grpSpPr>
      <p:sp>
        <p:nvSpPr>
          <p:cNvPr id="2" name="Shape 0"/>
          <p:cNvSpPr/>
          <p:nvPr/>
        </p:nvSpPr>
        <p:spPr>
          <a:xfrm>
            <a:off x="9052560" y="822960"/>
            <a:ext cx="1051560" cy="1051560"/>
          </a:xfrm>
          <a:prstGeom prst="rect">
            <a:avLst/>
          </a:prstGeom>
          <a:solidFill>
            <a:srgbClr val="2A2F55"/>
          </a:solidFill>
          <a:ln/>
        </p:spPr>
      </p:sp>
      <p:sp>
        <p:nvSpPr>
          <p:cNvPr id="3" name="Shape 1"/>
          <p:cNvSpPr/>
          <p:nvPr/>
        </p:nvSpPr>
        <p:spPr>
          <a:xfrm>
            <a:off x="10287000" y="822960"/>
            <a:ext cx="1051560" cy="1051560"/>
          </a:xfrm>
          <a:prstGeom prst="rect">
            <a:avLst/>
          </a:prstGeom>
          <a:solidFill>
            <a:srgbClr val="2A2F55"/>
          </a:solidFill>
          <a:ln/>
        </p:spPr>
      </p:sp>
      <p:sp>
        <p:nvSpPr>
          <p:cNvPr id="4" name="Shape 2"/>
          <p:cNvSpPr/>
          <p:nvPr/>
        </p:nvSpPr>
        <p:spPr>
          <a:xfrm>
            <a:off x="9052560" y="2057400"/>
            <a:ext cx="1051560" cy="1051560"/>
          </a:xfrm>
          <a:prstGeom prst="rect">
            <a:avLst/>
          </a:prstGeom>
          <a:solidFill>
            <a:srgbClr val="2A2F55"/>
          </a:solidFill>
          <a:ln/>
        </p:spPr>
      </p:sp>
      <p:sp>
        <p:nvSpPr>
          <p:cNvPr id="5" name="Shape 3"/>
          <p:cNvSpPr/>
          <p:nvPr/>
        </p:nvSpPr>
        <p:spPr>
          <a:xfrm>
            <a:off x="10287000" y="2057400"/>
            <a:ext cx="1051560" cy="1051560"/>
          </a:xfrm>
          <a:prstGeom prst="rect">
            <a:avLst/>
          </a:prstGeom>
          <a:solidFill>
            <a:srgbClr val="2A2F55"/>
          </a:solidFill>
          <a:ln/>
        </p:spPr>
      </p:sp>
      <p:sp>
        <p:nvSpPr>
          <p:cNvPr id="6" name="Shape 4"/>
          <p:cNvSpPr/>
          <p:nvPr/>
        </p:nvSpPr>
        <p:spPr>
          <a:xfrm>
            <a:off x="9395460" y="1165860"/>
            <a:ext cx="365760" cy="365760"/>
          </a:xfrm>
          <a:prstGeom prst="ellipse">
            <a:avLst/>
          </a:prstGeom>
          <a:solidFill>
            <a:srgbClr val="D62828"/>
          </a:solidFill>
          <a:ln/>
        </p:spPr>
      </p:sp>
      <p:sp>
        <p:nvSpPr>
          <p:cNvPr id="7" name="Shape 5"/>
          <p:cNvSpPr/>
          <p:nvPr/>
        </p:nvSpPr>
        <p:spPr>
          <a:xfrm>
            <a:off x="10629900" y="1165860"/>
            <a:ext cx="365760" cy="365760"/>
          </a:xfrm>
          <a:prstGeom prst="ellipse">
            <a:avLst/>
          </a:prstGeom>
          <a:solidFill>
            <a:srgbClr val="2A9D8F"/>
          </a:solidFill>
          <a:ln/>
        </p:spPr>
      </p:sp>
      <p:sp>
        <p:nvSpPr>
          <p:cNvPr id="8" name="Shape 6"/>
          <p:cNvSpPr/>
          <p:nvPr/>
        </p:nvSpPr>
        <p:spPr>
          <a:xfrm>
            <a:off x="9395460" y="2400300"/>
            <a:ext cx="365760" cy="365760"/>
          </a:xfrm>
          <a:prstGeom prst="ellipse">
            <a:avLst/>
          </a:prstGeom>
          <a:solidFill>
            <a:srgbClr val="E9C46A"/>
          </a:solidFill>
          <a:ln/>
        </p:spPr>
      </p:sp>
      <p:sp>
        <p:nvSpPr>
          <p:cNvPr id="9" name="Shape 7"/>
          <p:cNvSpPr/>
          <p:nvPr/>
        </p:nvSpPr>
        <p:spPr>
          <a:xfrm>
            <a:off x="10629900" y="2400300"/>
            <a:ext cx="365760" cy="365760"/>
          </a:xfrm>
          <a:prstGeom prst="ellipse">
            <a:avLst/>
          </a:prstGeom>
          <a:solidFill>
            <a:srgbClr val="277DA1"/>
          </a:solidFill>
          <a:ln/>
        </p:spPr>
      </p:sp>
      <p:sp>
        <p:nvSpPr>
          <p:cNvPr id="10" name="Text 8"/>
          <p:cNvSpPr/>
          <p:nvPr/>
        </p:nvSpPr>
        <p:spPr>
          <a:xfrm>
            <a:off x="640080" y="1965960"/>
            <a:ext cx="7315200" cy="365760"/>
          </a:xfrm>
          <a:prstGeom prst="rect">
            <a:avLst/>
          </a:prstGeom>
          <a:noFill/>
          <a:ln/>
        </p:spPr>
        <p:txBody>
          <a:bodyPr wrap="square" lIns="0" tIns="0" rIns="0" bIns="0" rtlCol="0" anchor="ctr"/>
          <a:lstStyle/>
          <a:p>
            <a:pPr indent="0" marL="0">
              <a:buNone/>
            </a:pPr>
            <a:r>
              <a:rPr lang="en-US" sz="1400" b="1" spc="300" kern="0" dirty="0">
                <a:solidFill>
                  <a:srgbClr val="F2A541"/>
                </a:solidFill>
                <a:latin typeface="Calibri" pitchFamily="34" charset="0"/>
                <a:ea typeface="Calibri" pitchFamily="34" charset="-122"/>
                <a:cs typeface="Calibri" pitchFamily="34" charset="-120"/>
              </a:rPr>
              <a:t>CSE299  PROJECT  PROPOSAL</a:t>
            </a:r>
            <a:endParaRPr lang="en-US" sz="1400" dirty="0"/>
          </a:p>
        </p:txBody>
      </p:sp>
      <p:sp>
        <p:nvSpPr>
          <p:cNvPr id="11" name="Text 9"/>
          <p:cNvSpPr/>
          <p:nvPr/>
        </p:nvSpPr>
        <p:spPr>
          <a:xfrm>
            <a:off x="640080" y="2377440"/>
            <a:ext cx="960120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Browser-Based Multiplayer Ludo</a:t>
            </a:r>
            <a:endParaRPr lang="en-US" sz="4400" dirty="0"/>
          </a:p>
        </p:txBody>
      </p:sp>
      <p:sp>
        <p:nvSpPr>
          <p:cNvPr id="12" name="Text 10"/>
          <p:cNvSpPr/>
          <p:nvPr/>
        </p:nvSpPr>
        <p:spPr>
          <a:xfrm>
            <a:off x="640080" y="3429000"/>
            <a:ext cx="8686800" cy="822960"/>
          </a:xfrm>
          <a:prstGeom prst="rect">
            <a:avLst/>
          </a:prstGeom>
          <a:noFill/>
          <a:ln/>
        </p:spPr>
        <p:txBody>
          <a:bodyPr wrap="square" lIns="0" tIns="0" rIns="0" bIns="0" rtlCol="0" anchor="ctr"/>
          <a:lstStyle/>
          <a:p>
            <a:pPr indent="0" marL="0">
              <a:lnSpc>
                <a:spcPct val="125000"/>
              </a:lnSpc>
              <a:buNone/>
            </a:pPr>
            <a:r>
              <a:rPr lang="en-US" sz="1600" dirty="0">
                <a:solidFill>
                  <a:srgbClr val="C7CBE8"/>
                </a:solidFill>
                <a:latin typeface="Calibri" pitchFamily="34" charset="0"/>
                <a:ea typeface="Calibri" pitchFamily="34" charset="-122"/>
                <a:cs typeface="Calibri" pitchFamily="34" charset="-120"/>
              </a:rPr>
              <a:t>A Literature Review of Real-Time Multiplayer Architecture,</a:t>
            </a:r>
            <a:endParaRPr lang="en-US" sz="1600" dirty="0"/>
          </a:p>
          <a:p>
            <a:pPr indent="0" marL="0">
              <a:lnSpc>
                <a:spcPct val="125000"/>
              </a:lnSpc>
              <a:buNone/>
            </a:pPr>
            <a:r>
              <a:rPr lang="en-US" sz="1600" dirty="0">
                <a:solidFill>
                  <a:srgbClr val="C7CBE8"/>
                </a:solidFill>
                <a:latin typeface="Calibri" pitchFamily="34" charset="0"/>
                <a:ea typeface="Calibri" pitchFamily="34" charset="-122"/>
                <a:cs typeface="Calibri" pitchFamily="34" charset="-120"/>
              </a:rPr>
              <a:t>WebSocket Communication, and Server-Authoritative Game Design</a:t>
            </a:r>
            <a:endParaRPr lang="en-US" sz="1600" dirty="0"/>
          </a:p>
        </p:txBody>
      </p:sp>
      <p:sp>
        <p:nvSpPr>
          <p:cNvPr id="13" name="Shape 11"/>
          <p:cNvSpPr/>
          <p:nvPr/>
        </p:nvSpPr>
        <p:spPr>
          <a:xfrm>
            <a:off x="658368" y="4434840"/>
            <a:ext cx="2011680" cy="0"/>
          </a:xfrm>
          <a:prstGeom prst="line">
            <a:avLst/>
          </a:prstGeom>
          <a:noFill/>
          <a:ln w="38100">
            <a:solidFill>
              <a:srgbClr val="0E7C7B"/>
            </a:solidFill>
            <a:prstDash val="solid"/>
          </a:ln>
        </p:spPr>
      </p:sp>
      <p:sp>
        <p:nvSpPr>
          <p:cNvPr id="14" name="Text 12"/>
          <p:cNvSpPr/>
          <p:nvPr/>
        </p:nvSpPr>
        <p:spPr>
          <a:xfrm>
            <a:off x="640080" y="4617720"/>
            <a:ext cx="7315200" cy="365760"/>
          </a:xfrm>
          <a:prstGeom prst="rect">
            <a:avLst/>
          </a:prstGeom>
          <a:noFill/>
          <a:ln/>
        </p:spPr>
        <p:txBody>
          <a:bodyPr wrap="square" lIns="0" tIns="0" rIns="0" bIns="0" rtlCol="0" anchor="ctr"/>
          <a:lstStyle/>
          <a:p>
            <a:pPr indent="0" marL="0">
              <a:buNone/>
            </a:pPr>
            <a:r>
              <a:rPr lang="en-US" sz="1300" i="1" dirty="0">
                <a:solidFill>
                  <a:srgbClr val="9AA0C0"/>
                </a:solidFill>
                <a:latin typeface="Calibri" pitchFamily="34" charset="0"/>
                <a:ea typeface="Calibri" pitchFamily="34" charset="-122"/>
                <a:cs typeface="Calibri" pitchFamily="34" charset="-120"/>
              </a:rPr>
              <a:t>Section 2 — Literature Review</a:t>
            </a:r>
            <a:endParaRPr lang="en-US" sz="1300" dirty="0"/>
          </a:p>
        </p:txBody>
      </p:sp>
      <p:sp>
        <p:nvSpPr>
          <p:cNvPr id="15" name="Text 13"/>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9AA0C0"/>
                </a:solidFill>
                <a:latin typeface="Calibri" pitchFamily="34" charset="0"/>
                <a:ea typeface="Calibri" pitchFamily="34" charset="-122"/>
                <a:cs typeface="Calibri" pitchFamily="34" charset="-120"/>
              </a:rPr>
              <a:t>CSE299 Project Proposal  |  Literature Review</a:t>
            </a:r>
            <a:endParaRPr lang="en-US" sz="1000" dirty="0"/>
          </a:p>
        </p:txBody>
      </p:sp>
      <p:sp>
        <p:nvSpPr>
          <p:cNvPr id="16" name="Text 14"/>
          <p:cNvSpPr/>
          <p:nvPr/>
        </p:nvSpPr>
        <p:spPr>
          <a:xfrm>
            <a:off x="11365992" y="6473952"/>
            <a:ext cx="457200" cy="274320"/>
          </a:xfrm>
          <a:prstGeom prst="rect">
            <a:avLst/>
          </a:prstGeom>
          <a:noFill/>
          <a:ln/>
        </p:spPr>
        <p:txBody>
          <a:bodyPr wrap="square" lIns="0" tIns="0" rIns="0" bIns="0" rtlCol="0" anchor="ctr"/>
          <a:lstStyle/>
          <a:p>
            <a:pPr algn="r" indent="0" marL="0">
              <a:buNone/>
            </a:pPr>
            <a:r>
              <a:rPr lang="en-US" sz="1000" dirty="0">
                <a:solidFill>
                  <a:srgbClr val="9AA0C0"/>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300" b="1" spc="200" kern="0" dirty="0">
                <a:solidFill>
                  <a:srgbClr val="0E7C7B"/>
                </a:solidFill>
                <a:latin typeface="Calibri" pitchFamily="34" charset="0"/>
                <a:ea typeface="Calibri" pitchFamily="34" charset="-122"/>
                <a:cs typeface="Calibri" pitchFamily="34" charset="-120"/>
              </a:rPr>
              <a:t>WHAT WE'LL COVER</a:t>
            </a:r>
            <a:endParaRPr lang="en-US" sz="1300" dirty="0"/>
          </a:p>
        </p:txBody>
      </p:sp>
      <p:sp>
        <p:nvSpPr>
          <p:cNvPr id="3" name="Text 1"/>
          <p:cNvSpPr/>
          <p:nvPr/>
        </p:nvSpPr>
        <p:spPr>
          <a:xfrm>
            <a:off x="548640" y="713232"/>
            <a:ext cx="10607040" cy="685800"/>
          </a:xfrm>
          <a:prstGeom prst="rect">
            <a:avLst/>
          </a:prstGeom>
          <a:noFill/>
          <a:ln/>
        </p:spPr>
        <p:txBody>
          <a:bodyPr wrap="square" lIns="0" tIns="0" rIns="0" bIns="0" rtlCol="0" anchor="ctr"/>
          <a:lstStyle/>
          <a:p>
            <a:pPr indent="0" marL="0">
              <a:buNone/>
            </a:pPr>
            <a:r>
              <a:rPr lang="en-US" sz="3000" b="1" dirty="0">
                <a:solidFill>
                  <a:srgbClr val="1E2340"/>
                </a:solidFill>
                <a:latin typeface="Cambria" pitchFamily="34" charset="0"/>
                <a:ea typeface="Cambria" pitchFamily="34" charset="-122"/>
                <a:cs typeface="Cambria" pitchFamily="34" charset="-120"/>
              </a:rPr>
              <a:t>Literature Review — Agenda</a:t>
            </a:r>
            <a:endParaRPr lang="en-US" sz="3000" dirty="0"/>
          </a:p>
        </p:txBody>
      </p:sp>
      <p:sp>
        <p:nvSpPr>
          <p:cNvPr id="4" name="Shape 2"/>
          <p:cNvSpPr/>
          <p:nvPr/>
        </p:nvSpPr>
        <p:spPr>
          <a:xfrm>
            <a:off x="11109960" y="502920"/>
            <a:ext cx="164592" cy="164592"/>
          </a:xfrm>
          <a:prstGeom prst="ellipse">
            <a:avLst/>
          </a:prstGeom>
          <a:solidFill>
            <a:srgbClr val="D62828"/>
          </a:solidFill>
          <a:ln/>
        </p:spPr>
      </p:sp>
      <p:sp>
        <p:nvSpPr>
          <p:cNvPr id="5" name="Shape 3"/>
          <p:cNvSpPr/>
          <p:nvPr/>
        </p:nvSpPr>
        <p:spPr>
          <a:xfrm>
            <a:off x="11329416" y="502920"/>
            <a:ext cx="164592" cy="164592"/>
          </a:xfrm>
          <a:prstGeom prst="ellipse">
            <a:avLst/>
          </a:prstGeom>
          <a:solidFill>
            <a:srgbClr val="2A9D8F"/>
          </a:solidFill>
          <a:ln/>
        </p:spPr>
      </p:sp>
      <p:sp>
        <p:nvSpPr>
          <p:cNvPr id="6" name="Shape 4"/>
          <p:cNvSpPr/>
          <p:nvPr/>
        </p:nvSpPr>
        <p:spPr>
          <a:xfrm>
            <a:off x="11548872" y="502920"/>
            <a:ext cx="164592" cy="164592"/>
          </a:xfrm>
          <a:prstGeom prst="ellipse">
            <a:avLst/>
          </a:prstGeom>
          <a:solidFill>
            <a:srgbClr val="E9C46A"/>
          </a:solidFill>
          <a:ln/>
        </p:spPr>
      </p:sp>
      <p:sp>
        <p:nvSpPr>
          <p:cNvPr id="7" name="Shape 5"/>
          <p:cNvSpPr/>
          <p:nvPr/>
        </p:nvSpPr>
        <p:spPr>
          <a:xfrm>
            <a:off x="11768328" y="502920"/>
            <a:ext cx="164592" cy="164592"/>
          </a:xfrm>
          <a:prstGeom prst="ellipse">
            <a:avLst/>
          </a:prstGeom>
          <a:solidFill>
            <a:srgbClr val="277DA1"/>
          </a:solidFill>
          <a:ln/>
        </p:spPr>
      </p:sp>
      <p:sp>
        <p:nvSpPr>
          <p:cNvPr id="8" name="Shape 6"/>
          <p:cNvSpPr/>
          <p:nvPr/>
        </p:nvSpPr>
        <p:spPr>
          <a:xfrm>
            <a:off x="548640" y="1691640"/>
            <a:ext cx="5120640" cy="1216152"/>
          </a:xfrm>
          <a:prstGeom prst="roundRect">
            <a:avLst>
              <a:gd name="adj" fmla="val 6015"/>
            </a:avLst>
          </a:prstGeom>
          <a:solidFill>
            <a:srgbClr val="FFFFFF"/>
          </a:solidFill>
          <a:ln/>
          <a:effectLst>
            <a:outerShdw sx="100000" sy="100000" kx="0" ky="0" algn="bl" rotWithShape="0" blurRad="76200" dist="25400" dir="5400000">
              <a:srgbClr val="1E2340">
                <a:alpha val="12000"/>
              </a:srgbClr>
            </a:outerShdw>
          </a:effectLst>
        </p:spPr>
      </p:sp>
      <p:sp>
        <p:nvSpPr>
          <p:cNvPr id="9" name="Text 7"/>
          <p:cNvSpPr/>
          <p:nvPr/>
        </p:nvSpPr>
        <p:spPr>
          <a:xfrm>
            <a:off x="777240" y="1819656"/>
            <a:ext cx="822960" cy="960120"/>
          </a:xfrm>
          <a:prstGeom prst="rect">
            <a:avLst/>
          </a:prstGeom>
          <a:noFill/>
          <a:ln/>
        </p:spPr>
        <p:txBody>
          <a:bodyPr wrap="square" lIns="0" tIns="0" rIns="0" bIns="0" rtlCol="0" anchor="ctr"/>
          <a:lstStyle/>
          <a:p>
            <a:pPr indent="0" marL="0">
              <a:buNone/>
            </a:pPr>
            <a:r>
              <a:rPr lang="en-US" sz="2600" b="1" dirty="0">
                <a:solidFill>
                  <a:srgbClr val="D7DAEA"/>
                </a:solidFill>
                <a:latin typeface="Cambria" pitchFamily="34" charset="0"/>
                <a:ea typeface="Cambria" pitchFamily="34" charset="-122"/>
                <a:cs typeface="Cambria" pitchFamily="34" charset="-120"/>
              </a:rPr>
              <a:t>01</a:t>
            </a:r>
            <a:endParaRPr lang="en-US" sz="2600" dirty="0"/>
          </a:p>
        </p:txBody>
      </p:sp>
      <p:sp>
        <p:nvSpPr>
          <p:cNvPr id="10" name="Text 8"/>
          <p:cNvSpPr/>
          <p:nvPr/>
        </p:nvSpPr>
        <p:spPr>
          <a:xfrm>
            <a:off x="1508760" y="1801368"/>
            <a:ext cx="3931920" cy="365760"/>
          </a:xfrm>
          <a:prstGeom prst="rect">
            <a:avLst/>
          </a:prstGeom>
          <a:noFill/>
          <a:ln/>
        </p:spPr>
        <p:txBody>
          <a:bodyPr wrap="square" lIns="0" tIns="0" rIns="0" bIns="0" rtlCol="0" anchor="ctr"/>
          <a:lstStyle/>
          <a:p>
            <a:pPr indent="0" marL="0">
              <a:buNone/>
            </a:pPr>
            <a:r>
              <a:rPr lang="en-US" sz="1450" b="1" dirty="0">
                <a:solidFill>
                  <a:srgbClr val="1E2340"/>
                </a:solidFill>
                <a:latin typeface="Calibri" pitchFamily="34" charset="0"/>
                <a:ea typeface="Calibri" pitchFamily="34" charset="-122"/>
                <a:cs typeface="Calibri" pitchFamily="34" charset="-120"/>
              </a:rPr>
              <a:t>Evolution of Online Board Games</a:t>
            </a:r>
            <a:endParaRPr lang="en-US" sz="1450" dirty="0"/>
          </a:p>
        </p:txBody>
      </p:sp>
      <p:sp>
        <p:nvSpPr>
          <p:cNvPr id="11" name="Text 9"/>
          <p:cNvSpPr/>
          <p:nvPr/>
        </p:nvSpPr>
        <p:spPr>
          <a:xfrm>
            <a:off x="1508760" y="2167128"/>
            <a:ext cx="3931920" cy="45720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From physical tables to the browser</a:t>
            </a:r>
            <a:endParaRPr lang="en-US" sz="1150" dirty="0"/>
          </a:p>
        </p:txBody>
      </p:sp>
      <p:sp>
        <p:nvSpPr>
          <p:cNvPr id="12" name="Shape 10"/>
          <p:cNvSpPr/>
          <p:nvPr/>
        </p:nvSpPr>
        <p:spPr>
          <a:xfrm>
            <a:off x="548640" y="3108960"/>
            <a:ext cx="5120640" cy="1216152"/>
          </a:xfrm>
          <a:prstGeom prst="roundRect">
            <a:avLst>
              <a:gd name="adj" fmla="val 6015"/>
            </a:avLst>
          </a:prstGeom>
          <a:solidFill>
            <a:srgbClr val="FFFFFF"/>
          </a:solidFill>
          <a:ln/>
          <a:effectLst>
            <a:outerShdw sx="100000" sy="100000" kx="0" ky="0" algn="bl" rotWithShape="0" blurRad="76200" dist="25400" dir="5400000">
              <a:srgbClr val="1E2340">
                <a:alpha val="12000"/>
              </a:srgbClr>
            </a:outerShdw>
          </a:effectLst>
        </p:spPr>
      </p:sp>
      <p:sp>
        <p:nvSpPr>
          <p:cNvPr id="13" name="Text 11"/>
          <p:cNvSpPr/>
          <p:nvPr/>
        </p:nvSpPr>
        <p:spPr>
          <a:xfrm>
            <a:off x="777240" y="3236976"/>
            <a:ext cx="822960" cy="960120"/>
          </a:xfrm>
          <a:prstGeom prst="rect">
            <a:avLst/>
          </a:prstGeom>
          <a:noFill/>
          <a:ln/>
        </p:spPr>
        <p:txBody>
          <a:bodyPr wrap="square" lIns="0" tIns="0" rIns="0" bIns="0" rtlCol="0" anchor="ctr"/>
          <a:lstStyle/>
          <a:p>
            <a:pPr indent="0" marL="0">
              <a:buNone/>
            </a:pPr>
            <a:r>
              <a:rPr lang="en-US" sz="2600" b="1" dirty="0">
                <a:solidFill>
                  <a:srgbClr val="D7DAEA"/>
                </a:solidFill>
                <a:latin typeface="Cambria" pitchFamily="34" charset="0"/>
                <a:ea typeface="Cambria" pitchFamily="34" charset="-122"/>
                <a:cs typeface="Cambria" pitchFamily="34" charset="-120"/>
              </a:rPr>
              <a:t>02</a:t>
            </a:r>
            <a:endParaRPr lang="en-US" sz="2600" dirty="0"/>
          </a:p>
        </p:txBody>
      </p:sp>
      <p:sp>
        <p:nvSpPr>
          <p:cNvPr id="14" name="Text 12"/>
          <p:cNvSpPr/>
          <p:nvPr/>
        </p:nvSpPr>
        <p:spPr>
          <a:xfrm>
            <a:off x="1508760" y="3218688"/>
            <a:ext cx="3931920" cy="365760"/>
          </a:xfrm>
          <a:prstGeom prst="rect">
            <a:avLst/>
          </a:prstGeom>
          <a:noFill/>
          <a:ln/>
        </p:spPr>
        <p:txBody>
          <a:bodyPr wrap="square" lIns="0" tIns="0" rIns="0" bIns="0" rtlCol="0" anchor="ctr"/>
          <a:lstStyle/>
          <a:p>
            <a:pPr indent="0" marL="0">
              <a:buNone/>
            </a:pPr>
            <a:r>
              <a:rPr lang="en-US" sz="1450" b="1" dirty="0">
                <a:solidFill>
                  <a:srgbClr val="1E2340"/>
                </a:solidFill>
                <a:latin typeface="Calibri" pitchFamily="34" charset="0"/>
                <a:ea typeface="Calibri" pitchFamily="34" charset="-122"/>
                <a:cs typeface="Calibri" pitchFamily="34" charset="-120"/>
              </a:rPr>
              <a:t>Real-Time Multiplayer Systems</a:t>
            </a:r>
            <a:endParaRPr lang="en-US" sz="1450" dirty="0"/>
          </a:p>
        </p:txBody>
      </p:sp>
      <p:sp>
        <p:nvSpPr>
          <p:cNvPr id="15" name="Text 13"/>
          <p:cNvSpPr/>
          <p:nvPr/>
        </p:nvSpPr>
        <p:spPr>
          <a:xfrm>
            <a:off x="1508760" y="3584448"/>
            <a:ext cx="3931920" cy="45720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WebSockets and Socket.IO</a:t>
            </a:r>
            <a:endParaRPr lang="en-US" sz="1150" dirty="0"/>
          </a:p>
        </p:txBody>
      </p:sp>
      <p:sp>
        <p:nvSpPr>
          <p:cNvPr id="16" name="Shape 14"/>
          <p:cNvSpPr/>
          <p:nvPr/>
        </p:nvSpPr>
        <p:spPr>
          <a:xfrm>
            <a:off x="548640" y="4526280"/>
            <a:ext cx="5120640" cy="1216152"/>
          </a:xfrm>
          <a:prstGeom prst="roundRect">
            <a:avLst>
              <a:gd name="adj" fmla="val 6015"/>
            </a:avLst>
          </a:prstGeom>
          <a:solidFill>
            <a:srgbClr val="FFFFFF"/>
          </a:solidFill>
          <a:ln/>
          <a:effectLst>
            <a:outerShdw sx="100000" sy="100000" kx="0" ky="0" algn="bl" rotWithShape="0" blurRad="76200" dist="25400" dir="5400000">
              <a:srgbClr val="1E2340">
                <a:alpha val="12000"/>
              </a:srgbClr>
            </a:outerShdw>
          </a:effectLst>
        </p:spPr>
      </p:sp>
      <p:sp>
        <p:nvSpPr>
          <p:cNvPr id="17" name="Text 15"/>
          <p:cNvSpPr/>
          <p:nvPr/>
        </p:nvSpPr>
        <p:spPr>
          <a:xfrm>
            <a:off x="777240" y="4654296"/>
            <a:ext cx="822960" cy="960120"/>
          </a:xfrm>
          <a:prstGeom prst="rect">
            <a:avLst/>
          </a:prstGeom>
          <a:noFill/>
          <a:ln/>
        </p:spPr>
        <p:txBody>
          <a:bodyPr wrap="square" lIns="0" tIns="0" rIns="0" bIns="0" rtlCol="0" anchor="ctr"/>
          <a:lstStyle/>
          <a:p>
            <a:pPr indent="0" marL="0">
              <a:buNone/>
            </a:pPr>
            <a:r>
              <a:rPr lang="en-US" sz="2600" b="1" dirty="0">
                <a:solidFill>
                  <a:srgbClr val="D7DAEA"/>
                </a:solidFill>
                <a:latin typeface="Cambria" pitchFamily="34" charset="0"/>
                <a:ea typeface="Cambria" pitchFamily="34" charset="-122"/>
                <a:cs typeface="Cambria" pitchFamily="34" charset="-120"/>
              </a:rPr>
              <a:t>03</a:t>
            </a:r>
            <a:endParaRPr lang="en-US" sz="2600" dirty="0"/>
          </a:p>
        </p:txBody>
      </p:sp>
      <p:sp>
        <p:nvSpPr>
          <p:cNvPr id="18" name="Text 16"/>
          <p:cNvSpPr/>
          <p:nvPr/>
        </p:nvSpPr>
        <p:spPr>
          <a:xfrm>
            <a:off x="1508760" y="4636008"/>
            <a:ext cx="3931920" cy="365760"/>
          </a:xfrm>
          <a:prstGeom prst="rect">
            <a:avLst/>
          </a:prstGeom>
          <a:noFill/>
          <a:ln/>
        </p:spPr>
        <p:txBody>
          <a:bodyPr wrap="square" lIns="0" tIns="0" rIns="0" bIns="0" rtlCol="0" anchor="ctr"/>
          <a:lstStyle/>
          <a:p>
            <a:pPr indent="0" marL="0">
              <a:buNone/>
            </a:pPr>
            <a:r>
              <a:rPr lang="en-US" sz="1450" b="1" dirty="0">
                <a:solidFill>
                  <a:srgbClr val="1E2340"/>
                </a:solidFill>
                <a:latin typeface="Calibri" pitchFamily="34" charset="0"/>
                <a:ea typeface="Calibri" pitchFamily="34" charset="-122"/>
                <a:cs typeface="Calibri" pitchFamily="34" charset="-120"/>
              </a:rPr>
              <a:t>Server-Authoritative Architecture</a:t>
            </a:r>
            <a:endParaRPr lang="en-US" sz="1450" dirty="0"/>
          </a:p>
        </p:txBody>
      </p:sp>
      <p:sp>
        <p:nvSpPr>
          <p:cNvPr id="19" name="Text 17"/>
          <p:cNvSpPr/>
          <p:nvPr/>
        </p:nvSpPr>
        <p:spPr>
          <a:xfrm>
            <a:off x="1508760" y="5001768"/>
            <a:ext cx="3931920" cy="45720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Fairness and anti-cheat by design</a:t>
            </a:r>
            <a:endParaRPr lang="en-US" sz="1150" dirty="0"/>
          </a:p>
        </p:txBody>
      </p:sp>
      <p:sp>
        <p:nvSpPr>
          <p:cNvPr id="20" name="Shape 18"/>
          <p:cNvSpPr/>
          <p:nvPr/>
        </p:nvSpPr>
        <p:spPr>
          <a:xfrm>
            <a:off x="5943600" y="1691640"/>
            <a:ext cx="5120640" cy="1216152"/>
          </a:xfrm>
          <a:prstGeom prst="roundRect">
            <a:avLst>
              <a:gd name="adj" fmla="val 6015"/>
            </a:avLst>
          </a:prstGeom>
          <a:solidFill>
            <a:srgbClr val="FFFFFF"/>
          </a:solidFill>
          <a:ln/>
          <a:effectLst>
            <a:outerShdw sx="100000" sy="100000" kx="0" ky="0" algn="bl" rotWithShape="0" blurRad="76200" dist="25400" dir="5400000">
              <a:srgbClr val="1E2340">
                <a:alpha val="12000"/>
              </a:srgbClr>
            </a:outerShdw>
          </a:effectLst>
        </p:spPr>
      </p:sp>
      <p:sp>
        <p:nvSpPr>
          <p:cNvPr id="21" name="Text 19"/>
          <p:cNvSpPr/>
          <p:nvPr/>
        </p:nvSpPr>
        <p:spPr>
          <a:xfrm>
            <a:off x="6172200" y="1819656"/>
            <a:ext cx="822960" cy="960120"/>
          </a:xfrm>
          <a:prstGeom prst="rect">
            <a:avLst/>
          </a:prstGeom>
          <a:noFill/>
          <a:ln/>
        </p:spPr>
        <p:txBody>
          <a:bodyPr wrap="square" lIns="0" tIns="0" rIns="0" bIns="0" rtlCol="0" anchor="ctr"/>
          <a:lstStyle/>
          <a:p>
            <a:pPr indent="0" marL="0">
              <a:buNone/>
            </a:pPr>
            <a:r>
              <a:rPr lang="en-US" sz="2600" b="1" dirty="0">
                <a:solidFill>
                  <a:srgbClr val="D7DAEA"/>
                </a:solidFill>
                <a:latin typeface="Cambria" pitchFamily="34" charset="0"/>
                <a:ea typeface="Cambria" pitchFamily="34" charset="-122"/>
                <a:cs typeface="Cambria" pitchFamily="34" charset="-120"/>
              </a:rPr>
              <a:t>04</a:t>
            </a:r>
            <a:endParaRPr lang="en-US" sz="2600" dirty="0"/>
          </a:p>
        </p:txBody>
      </p:sp>
      <p:sp>
        <p:nvSpPr>
          <p:cNvPr id="22" name="Text 20"/>
          <p:cNvSpPr/>
          <p:nvPr/>
        </p:nvSpPr>
        <p:spPr>
          <a:xfrm>
            <a:off x="6903720" y="1801368"/>
            <a:ext cx="3931920" cy="365760"/>
          </a:xfrm>
          <a:prstGeom prst="rect">
            <a:avLst/>
          </a:prstGeom>
          <a:noFill/>
          <a:ln/>
        </p:spPr>
        <p:txBody>
          <a:bodyPr wrap="square" lIns="0" tIns="0" rIns="0" bIns="0" rtlCol="0" anchor="ctr"/>
          <a:lstStyle/>
          <a:p>
            <a:pPr indent="0" marL="0">
              <a:buNone/>
            </a:pPr>
            <a:r>
              <a:rPr lang="en-US" sz="1450" b="1" dirty="0">
                <a:solidFill>
                  <a:srgbClr val="1E2340"/>
                </a:solidFill>
                <a:latin typeface="Calibri" pitchFamily="34" charset="0"/>
                <a:ea typeface="Calibri" pitchFamily="34" charset="-122"/>
                <a:cs typeface="Calibri" pitchFamily="34" charset="-120"/>
              </a:rPr>
              <a:t>Browser &amp; Backend Technologies</a:t>
            </a:r>
            <a:endParaRPr lang="en-US" sz="1450" dirty="0"/>
          </a:p>
        </p:txBody>
      </p:sp>
      <p:sp>
        <p:nvSpPr>
          <p:cNvPr id="23" name="Text 21"/>
          <p:cNvSpPr/>
          <p:nvPr/>
        </p:nvSpPr>
        <p:spPr>
          <a:xfrm>
            <a:off x="6903720" y="2167128"/>
            <a:ext cx="3931920" cy="45720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React, Node.js, Express</a:t>
            </a:r>
            <a:endParaRPr lang="en-US" sz="1150" dirty="0"/>
          </a:p>
        </p:txBody>
      </p:sp>
      <p:sp>
        <p:nvSpPr>
          <p:cNvPr id="24" name="Shape 22"/>
          <p:cNvSpPr/>
          <p:nvPr/>
        </p:nvSpPr>
        <p:spPr>
          <a:xfrm>
            <a:off x="5943600" y="3108960"/>
            <a:ext cx="5120640" cy="1216152"/>
          </a:xfrm>
          <a:prstGeom prst="roundRect">
            <a:avLst>
              <a:gd name="adj" fmla="val 6015"/>
            </a:avLst>
          </a:prstGeom>
          <a:solidFill>
            <a:srgbClr val="FFFFFF"/>
          </a:solidFill>
          <a:ln/>
          <a:effectLst>
            <a:outerShdw sx="100000" sy="100000" kx="0" ky="0" algn="bl" rotWithShape="0" blurRad="76200" dist="25400" dir="5400000">
              <a:srgbClr val="1E2340">
                <a:alpha val="12000"/>
              </a:srgbClr>
            </a:outerShdw>
          </a:effectLst>
        </p:spPr>
      </p:sp>
      <p:sp>
        <p:nvSpPr>
          <p:cNvPr id="25" name="Text 23"/>
          <p:cNvSpPr/>
          <p:nvPr/>
        </p:nvSpPr>
        <p:spPr>
          <a:xfrm>
            <a:off x="6172200" y="3236976"/>
            <a:ext cx="822960" cy="960120"/>
          </a:xfrm>
          <a:prstGeom prst="rect">
            <a:avLst/>
          </a:prstGeom>
          <a:noFill/>
          <a:ln/>
        </p:spPr>
        <p:txBody>
          <a:bodyPr wrap="square" lIns="0" tIns="0" rIns="0" bIns="0" rtlCol="0" anchor="ctr"/>
          <a:lstStyle/>
          <a:p>
            <a:pPr indent="0" marL="0">
              <a:buNone/>
            </a:pPr>
            <a:r>
              <a:rPr lang="en-US" sz="2600" b="1" dirty="0">
                <a:solidFill>
                  <a:srgbClr val="D7DAEA"/>
                </a:solidFill>
                <a:latin typeface="Cambria" pitchFamily="34" charset="0"/>
                <a:ea typeface="Cambria" pitchFamily="34" charset="-122"/>
                <a:cs typeface="Cambria" pitchFamily="34" charset="-120"/>
              </a:rPr>
              <a:t>05</a:t>
            </a:r>
            <a:endParaRPr lang="en-US" sz="2600" dirty="0"/>
          </a:p>
        </p:txBody>
      </p:sp>
      <p:sp>
        <p:nvSpPr>
          <p:cNvPr id="26" name="Text 24"/>
          <p:cNvSpPr/>
          <p:nvPr/>
        </p:nvSpPr>
        <p:spPr>
          <a:xfrm>
            <a:off x="6903720" y="3218688"/>
            <a:ext cx="3931920" cy="365760"/>
          </a:xfrm>
          <a:prstGeom prst="rect">
            <a:avLst/>
          </a:prstGeom>
          <a:noFill/>
          <a:ln/>
        </p:spPr>
        <p:txBody>
          <a:bodyPr wrap="square" lIns="0" tIns="0" rIns="0" bIns="0" rtlCol="0" anchor="ctr"/>
          <a:lstStyle/>
          <a:p>
            <a:pPr indent="0" marL="0">
              <a:buNone/>
            </a:pPr>
            <a:r>
              <a:rPr lang="en-US" sz="1450" b="1" dirty="0">
                <a:solidFill>
                  <a:srgbClr val="1E2340"/>
                </a:solidFill>
                <a:latin typeface="Calibri" pitchFamily="34" charset="0"/>
                <a:ea typeface="Calibri" pitchFamily="34" charset="-122"/>
                <a:cs typeface="Calibri" pitchFamily="34" charset="-120"/>
              </a:rPr>
              <a:t>Database Management</a:t>
            </a:r>
            <a:endParaRPr lang="en-US" sz="1450" dirty="0"/>
          </a:p>
        </p:txBody>
      </p:sp>
      <p:sp>
        <p:nvSpPr>
          <p:cNvPr id="27" name="Text 25"/>
          <p:cNvSpPr/>
          <p:nvPr/>
        </p:nvSpPr>
        <p:spPr>
          <a:xfrm>
            <a:off x="6903720" y="3584448"/>
            <a:ext cx="3931920" cy="45720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MongoDB for persistent game state</a:t>
            </a:r>
            <a:endParaRPr lang="en-US" sz="1150" dirty="0"/>
          </a:p>
        </p:txBody>
      </p:sp>
      <p:sp>
        <p:nvSpPr>
          <p:cNvPr id="28" name="Shape 26"/>
          <p:cNvSpPr/>
          <p:nvPr/>
        </p:nvSpPr>
        <p:spPr>
          <a:xfrm>
            <a:off x="5943600" y="4526280"/>
            <a:ext cx="5120640" cy="1216152"/>
          </a:xfrm>
          <a:prstGeom prst="roundRect">
            <a:avLst>
              <a:gd name="adj" fmla="val 6015"/>
            </a:avLst>
          </a:prstGeom>
          <a:solidFill>
            <a:srgbClr val="FFFFFF"/>
          </a:solidFill>
          <a:ln/>
          <a:effectLst>
            <a:outerShdw sx="100000" sy="100000" kx="0" ky="0" algn="bl" rotWithShape="0" blurRad="76200" dist="25400" dir="5400000">
              <a:srgbClr val="1E2340">
                <a:alpha val="12000"/>
              </a:srgbClr>
            </a:outerShdw>
          </a:effectLst>
        </p:spPr>
      </p:sp>
      <p:sp>
        <p:nvSpPr>
          <p:cNvPr id="29" name="Text 27"/>
          <p:cNvSpPr/>
          <p:nvPr/>
        </p:nvSpPr>
        <p:spPr>
          <a:xfrm>
            <a:off x="6172200" y="4654296"/>
            <a:ext cx="822960" cy="960120"/>
          </a:xfrm>
          <a:prstGeom prst="rect">
            <a:avLst/>
          </a:prstGeom>
          <a:noFill/>
          <a:ln/>
        </p:spPr>
        <p:txBody>
          <a:bodyPr wrap="square" lIns="0" tIns="0" rIns="0" bIns="0" rtlCol="0" anchor="ctr"/>
          <a:lstStyle/>
          <a:p>
            <a:pPr indent="0" marL="0">
              <a:buNone/>
            </a:pPr>
            <a:r>
              <a:rPr lang="en-US" sz="2600" b="1" dirty="0">
                <a:solidFill>
                  <a:srgbClr val="D7DAEA"/>
                </a:solidFill>
                <a:latin typeface="Cambria" pitchFamily="34" charset="0"/>
                <a:ea typeface="Cambria" pitchFamily="34" charset="-122"/>
                <a:cs typeface="Cambria" pitchFamily="34" charset="-120"/>
              </a:rPr>
              <a:t>06</a:t>
            </a:r>
            <a:endParaRPr lang="en-US" sz="2600" dirty="0"/>
          </a:p>
        </p:txBody>
      </p:sp>
      <p:sp>
        <p:nvSpPr>
          <p:cNvPr id="30" name="Text 28"/>
          <p:cNvSpPr/>
          <p:nvPr/>
        </p:nvSpPr>
        <p:spPr>
          <a:xfrm>
            <a:off x="6903720" y="4636008"/>
            <a:ext cx="3931920" cy="365760"/>
          </a:xfrm>
          <a:prstGeom prst="rect">
            <a:avLst/>
          </a:prstGeom>
          <a:noFill/>
          <a:ln/>
        </p:spPr>
        <p:txBody>
          <a:bodyPr wrap="square" lIns="0" tIns="0" rIns="0" bIns="0" rtlCol="0" anchor="ctr"/>
          <a:lstStyle/>
          <a:p>
            <a:pPr indent="0" marL="0">
              <a:buNone/>
            </a:pPr>
            <a:r>
              <a:rPr lang="en-US" sz="1450" b="1" dirty="0">
                <a:solidFill>
                  <a:srgbClr val="1E2340"/>
                </a:solidFill>
                <a:latin typeface="Calibri" pitchFamily="34" charset="0"/>
                <a:ea typeface="Calibri" pitchFamily="34" charset="-122"/>
                <a:cs typeface="Calibri" pitchFamily="34" charset="-120"/>
              </a:rPr>
              <a:t>Existing Ludo Platforms &amp; the Research Gap</a:t>
            </a:r>
            <a:endParaRPr lang="en-US" sz="1450" dirty="0"/>
          </a:p>
        </p:txBody>
      </p:sp>
      <p:sp>
        <p:nvSpPr>
          <p:cNvPr id="31" name="Text 29"/>
          <p:cNvSpPr/>
          <p:nvPr/>
        </p:nvSpPr>
        <p:spPr>
          <a:xfrm>
            <a:off x="6903720" y="5001768"/>
            <a:ext cx="3931920" cy="45720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Where this project fits in</a:t>
            </a:r>
            <a:endParaRPr lang="en-US" sz="1150" dirty="0"/>
          </a:p>
        </p:txBody>
      </p:sp>
      <p:sp>
        <p:nvSpPr>
          <p:cNvPr id="32" name="Text 30"/>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CSE299 Project Proposal  |  Literature Review</a:t>
            </a:r>
            <a:endParaRPr lang="en-US" sz="1000" dirty="0"/>
          </a:p>
        </p:txBody>
      </p:sp>
      <p:sp>
        <p:nvSpPr>
          <p:cNvPr id="33" name="Text 31"/>
          <p:cNvSpPr/>
          <p:nvPr/>
        </p:nvSpPr>
        <p:spPr>
          <a:xfrm>
            <a:off x="11365992"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300" b="1" spc="200" kern="0" dirty="0">
                <a:solidFill>
                  <a:srgbClr val="0E7C7B"/>
                </a:solidFill>
                <a:latin typeface="Calibri" pitchFamily="34" charset="0"/>
                <a:ea typeface="Calibri" pitchFamily="34" charset="-122"/>
                <a:cs typeface="Calibri" pitchFamily="34" charset="-120"/>
              </a:rPr>
              <a:t>2.1 BACKGROUND</a:t>
            </a:r>
            <a:endParaRPr lang="en-US" sz="1300" dirty="0"/>
          </a:p>
        </p:txBody>
      </p:sp>
      <p:sp>
        <p:nvSpPr>
          <p:cNvPr id="3" name="Text 1"/>
          <p:cNvSpPr/>
          <p:nvPr/>
        </p:nvSpPr>
        <p:spPr>
          <a:xfrm>
            <a:off x="548640" y="713232"/>
            <a:ext cx="10607040" cy="685800"/>
          </a:xfrm>
          <a:prstGeom prst="rect">
            <a:avLst/>
          </a:prstGeom>
          <a:noFill/>
          <a:ln/>
        </p:spPr>
        <p:txBody>
          <a:bodyPr wrap="square" lIns="0" tIns="0" rIns="0" bIns="0" rtlCol="0" anchor="ctr"/>
          <a:lstStyle/>
          <a:p>
            <a:pPr indent="0" marL="0">
              <a:buNone/>
            </a:pPr>
            <a:r>
              <a:rPr lang="en-US" sz="3000" b="1" dirty="0">
                <a:solidFill>
                  <a:srgbClr val="1E2340"/>
                </a:solidFill>
                <a:latin typeface="Cambria" pitchFamily="34" charset="0"/>
                <a:ea typeface="Cambria" pitchFamily="34" charset="-122"/>
                <a:cs typeface="Cambria" pitchFamily="34" charset="-120"/>
              </a:rPr>
              <a:t>Evolution of Online Board Games</a:t>
            </a:r>
            <a:endParaRPr lang="en-US" sz="3000" dirty="0"/>
          </a:p>
        </p:txBody>
      </p:sp>
      <p:sp>
        <p:nvSpPr>
          <p:cNvPr id="4" name="Shape 2"/>
          <p:cNvSpPr/>
          <p:nvPr/>
        </p:nvSpPr>
        <p:spPr>
          <a:xfrm>
            <a:off x="11109960" y="502920"/>
            <a:ext cx="164592" cy="164592"/>
          </a:xfrm>
          <a:prstGeom prst="ellipse">
            <a:avLst/>
          </a:prstGeom>
          <a:solidFill>
            <a:srgbClr val="D62828"/>
          </a:solidFill>
          <a:ln/>
        </p:spPr>
      </p:sp>
      <p:sp>
        <p:nvSpPr>
          <p:cNvPr id="5" name="Shape 3"/>
          <p:cNvSpPr/>
          <p:nvPr/>
        </p:nvSpPr>
        <p:spPr>
          <a:xfrm>
            <a:off x="11329416" y="502920"/>
            <a:ext cx="164592" cy="164592"/>
          </a:xfrm>
          <a:prstGeom prst="ellipse">
            <a:avLst/>
          </a:prstGeom>
          <a:solidFill>
            <a:srgbClr val="2A9D8F"/>
          </a:solidFill>
          <a:ln/>
        </p:spPr>
      </p:sp>
      <p:sp>
        <p:nvSpPr>
          <p:cNvPr id="6" name="Shape 4"/>
          <p:cNvSpPr/>
          <p:nvPr/>
        </p:nvSpPr>
        <p:spPr>
          <a:xfrm>
            <a:off x="11548872" y="502920"/>
            <a:ext cx="164592" cy="164592"/>
          </a:xfrm>
          <a:prstGeom prst="ellipse">
            <a:avLst/>
          </a:prstGeom>
          <a:solidFill>
            <a:srgbClr val="E9C46A"/>
          </a:solidFill>
          <a:ln/>
        </p:spPr>
      </p:sp>
      <p:sp>
        <p:nvSpPr>
          <p:cNvPr id="7" name="Shape 5"/>
          <p:cNvSpPr/>
          <p:nvPr/>
        </p:nvSpPr>
        <p:spPr>
          <a:xfrm>
            <a:off x="11768328" y="502920"/>
            <a:ext cx="164592" cy="164592"/>
          </a:xfrm>
          <a:prstGeom prst="ellipse">
            <a:avLst/>
          </a:prstGeom>
          <a:solidFill>
            <a:srgbClr val="277DA1"/>
          </a:solidFill>
          <a:ln/>
        </p:spPr>
      </p:sp>
      <p:sp>
        <p:nvSpPr>
          <p:cNvPr id="8" name="Text 6"/>
          <p:cNvSpPr/>
          <p:nvPr/>
        </p:nvSpPr>
        <p:spPr>
          <a:xfrm>
            <a:off x="548640" y="1691640"/>
            <a:ext cx="5943600" cy="2011680"/>
          </a:xfrm>
          <a:prstGeom prst="rect">
            <a:avLst/>
          </a:prstGeom>
          <a:noFill/>
          <a:ln/>
        </p:spPr>
        <p:txBody>
          <a:bodyPr wrap="square" lIns="0" tIns="0" rIns="0" bIns="0" rtlCol="0" anchor="ctr"/>
          <a:lstStyle/>
          <a:p>
            <a:pPr indent="0" marL="0">
              <a:lnSpc>
                <a:spcPct val="135000"/>
              </a:lnSpc>
              <a:buNone/>
            </a:pPr>
            <a:r>
              <a:rPr lang="en-US" sz="1500" dirty="0">
                <a:solidFill>
                  <a:srgbClr val="1E2340"/>
                </a:solidFill>
                <a:latin typeface="Calibri" pitchFamily="34" charset="0"/>
                <a:ea typeface="Calibri" pitchFamily="34" charset="-122"/>
                <a:cs typeface="Calibri" pitchFamily="34" charset="-120"/>
              </a:rPr>
              <a:t>Board games have entertained players for centuries. The rapid growth of the Internet and cloud computing has turned classics like Chess, Checkers, Monopoly, and Ludo into digital multiplayer experiences that connect players across the globe in real time.</a:t>
            </a:r>
            <a:endParaRPr lang="en-US" sz="1500" dirty="0"/>
          </a:p>
        </p:txBody>
      </p:sp>
      <p:sp>
        <p:nvSpPr>
          <p:cNvPr id="9" name="Text 7"/>
          <p:cNvSpPr/>
          <p:nvPr/>
        </p:nvSpPr>
        <p:spPr>
          <a:xfrm>
            <a:off x="548640" y="3703320"/>
            <a:ext cx="5943600" cy="1463040"/>
          </a:xfrm>
          <a:prstGeom prst="rect">
            <a:avLst/>
          </a:prstGeom>
          <a:noFill/>
          <a:ln/>
        </p:spPr>
        <p:txBody>
          <a:bodyPr wrap="square" lIns="0" tIns="0" rIns="0" bIns="0" rtlCol="0" anchor="ctr"/>
          <a:lstStyle/>
          <a:p>
            <a:pPr indent="0" marL="0">
              <a:lnSpc>
                <a:spcPct val="135000"/>
              </a:lnSpc>
              <a:buNone/>
            </a:pPr>
            <a:r>
              <a:rPr lang="en-US" sz="1500" dirty="0">
                <a:solidFill>
                  <a:srgbClr val="1E2340"/>
                </a:solidFill>
                <a:latin typeface="Calibri" pitchFamily="34" charset="0"/>
                <a:ea typeface="Calibri" pitchFamily="34" charset="-122"/>
                <a:cs typeface="Calibri" pitchFamily="34" charset="-120"/>
              </a:rPr>
              <a:t>Modern web technology now lets these games run directly inside a browser, with no installation required — improving accessibility across desktops, tablets, and smartphones.</a:t>
            </a:r>
            <a:endParaRPr lang="en-US" sz="1500" dirty="0"/>
          </a:p>
        </p:txBody>
      </p:sp>
      <p:sp>
        <p:nvSpPr>
          <p:cNvPr id="10" name="Shape 8"/>
          <p:cNvSpPr/>
          <p:nvPr/>
        </p:nvSpPr>
        <p:spPr>
          <a:xfrm>
            <a:off x="6949440" y="1691640"/>
            <a:ext cx="4663440" cy="1188720"/>
          </a:xfrm>
          <a:prstGeom prst="roundRect">
            <a:avLst>
              <a:gd name="adj" fmla="val 6154"/>
            </a:avLst>
          </a:prstGeom>
          <a:solidFill>
            <a:srgbClr val="FFFFFF"/>
          </a:solidFill>
          <a:ln/>
          <a:effectLst>
            <a:outerShdw sx="100000" sy="100000" kx="0" ky="0" algn="bl" rotWithShape="0" blurRad="76200" dist="25400" dir="5400000">
              <a:srgbClr val="1E2340">
                <a:alpha val="12000"/>
              </a:srgbClr>
            </a:outerShdw>
          </a:effectLst>
        </p:spPr>
      </p:sp>
      <p:sp>
        <p:nvSpPr>
          <p:cNvPr id="11" name="Shape 9"/>
          <p:cNvSpPr/>
          <p:nvPr/>
        </p:nvSpPr>
        <p:spPr>
          <a:xfrm>
            <a:off x="7205472" y="1947672"/>
            <a:ext cx="54864" cy="676656"/>
          </a:xfrm>
          <a:prstGeom prst="rect">
            <a:avLst/>
          </a:prstGeom>
          <a:solidFill>
            <a:srgbClr val="0E7C7B"/>
          </a:solidFill>
          <a:ln/>
        </p:spPr>
      </p:sp>
      <p:sp>
        <p:nvSpPr>
          <p:cNvPr id="12" name="Text 10"/>
          <p:cNvSpPr/>
          <p:nvPr/>
        </p:nvSpPr>
        <p:spPr>
          <a:xfrm>
            <a:off x="7452360" y="1856232"/>
            <a:ext cx="3931920" cy="457200"/>
          </a:xfrm>
          <a:prstGeom prst="rect">
            <a:avLst/>
          </a:prstGeom>
          <a:noFill/>
          <a:ln/>
        </p:spPr>
        <p:txBody>
          <a:bodyPr wrap="square" lIns="0" tIns="0" rIns="0" bIns="0" rtlCol="0" anchor="ctr"/>
          <a:lstStyle/>
          <a:p>
            <a:pPr indent="0" marL="0">
              <a:buNone/>
            </a:pPr>
            <a:r>
              <a:rPr lang="en-US" sz="1900" b="1" dirty="0">
                <a:solidFill>
                  <a:srgbClr val="1E2340"/>
                </a:solidFill>
                <a:latin typeface="Cambria" pitchFamily="34" charset="0"/>
                <a:ea typeface="Cambria" pitchFamily="34" charset="-122"/>
                <a:cs typeface="Cambria" pitchFamily="34" charset="-120"/>
              </a:rPr>
              <a:t>No Install</a:t>
            </a:r>
            <a:endParaRPr lang="en-US" sz="1900" dirty="0"/>
          </a:p>
        </p:txBody>
      </p:sp>
      <p:sp>
        <p:nvSpPr>
          <p:cNvPr id="13" name="Text 11"/>
          <p:cNvSpPr/>
          <p:nvPr/>
        </p:nvSpPr>
        <p:spPr>
          <a:xfrm>
            <a:off x="7452360" y="2313432"/>
            <a:ext cx="3931920" cy="50292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Play instantly in any modern browser</a:t>
            </a:r>
            <a:endParaRPr lang="en-US" sz="1250" dirty="0"/>
          </a:p>
        </p:txBody>
      </p:sp>
      <p:sp>
        <p:nvSpPr>
          <p:cNvPr id="14" name="Shape 12"/>
          <p:cNvSpPr/>
          <p:nvPr/>
        </p:nvSpPr>
        <p:spPr>
          <a:xfrm>
            <a:off x="6949440" y="3108960"/>
            <a:ext cx="4663440" cy="1188720"/>
          </a:xfrm>
          <a:prstGeom prst="roundRect">
            <a:avLst>
              <a:gd name="adj" fmla="val 6154"/>
            </a:avLst>
          </a:prstGeom>
          <a:solidFill>
            <a:srgbClr val="FFFFFF"/>
          </a:solidFill>
          <a:ln/>
          <a:effectLst>
            <a:outerShdw sx="100000" sy="100000" kx="0" ky="0" algn="bl" rotWithShape="0" blurRad="76200" dist="25400" dir="5400000">
              <a:srgbClr val="1E2340">
                <a:alpha val="12000"/>
              </a:srgbClr>
            </a:outerShdw>
          </a:effectLst>
        </p:spPr>
      </p:sp>
      <p:sp>
        <p:nvSpPr>
          <p:cNvPr id="15" name="Shape 13"/>
          <p:cNvSpPr/>
          <p:nvPr/>
        </p:nvSpPr>
        <p:spPr>
          <a:xfrm>
            <a:off x="7205472" y="3364992"/>
            <a:ext cx="54864" cy="676656"/>
          </a:xfrm>
          <a:prstGeom prst="rect">
            <a:avLst/>
          </a:prstGeom>
          <a:solidFill>
            <a:srgbClr val="0E7C7B"/>
          </a:solidFill>
          <a:ln/>
        </p:spPr>
      </p:sp>
      <p:sp>
        <p:nvSpPr>
          <p:cNvPr id="16" name="Text 14"/>
          <p:cNvSpPr/>
          <p:nvPr/>
        </p:nvSpPr>
        <p:spPr>
          <a:xfrm>
            <a:off x="7452360" y="3273552"/>
            <a:ext cx="3931920" cy="457200"/>
          </a:xfrm>
          <a:prstGeom prst="rect">
            <a:avLst/>
          </a:prstGeom>
          <a:noFill/>
          <a:ln/>
        </p:spPr>
        <p:txBody>
          <a:bodyPr wrap="square" lIns="0" tIns="0" rIns="0" bIns="0" rtlCol="0" anchor="ctr"/>
          <a:lstStyle/>
          <a:p>
            <a:pPr indent="0" marL="0">
              <a:buNone/>
            </a:pPr>
            <a:r>
              <a:rPr lang="en-US" sz="1900" b="1" dirty="0">
                <a:solidFill>
                  <a:srgbClr val="1E2340"/>
                </a:solidFill>
                <a:latin typeface="Cambria" pitchFamily="34" charset="0"/>
                <a:ea typeface="Cambria" pitchFamily="34" charset="-122"/>
                <a:cs typeface="Cambria" pitchFamily="34" charset="-120"/>
              </a:rPr>
              <a:t>Cross-Device</a:t>
            </a:r>
            <a:endParaRPr lang="en-US" sz="1900" dirty="0"/>
          </a:p>
        </p:txBody>
      </p:sp>
      <p:sp>
        <p:nvSpPr>
          <p:cNvPr id="17" name="Text 15"/>
          <p:cNvSpPr/>
          <p:nvPr/>
        </p:nvSpPr>
        <p:spPr>
          <a:xfrm>
            <a:off x="7452360" y="3730752"/>
            <a:ext cx="3931920" cy="50292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Desktop, tablet, and mobile support</a:t>
            </a:r>
            <a:endParaRPr lang="en-US" sz="1250" dirty="0"/>
          </a:p>
        </p:txBody>
      </p:sp>
      <p:sp>
        <p:nvSpPr>
          <p:cNvPr id="18" name="Shape 16"/>
          <p:cNvSpPr/>
          <p:nvPr/>
        </p:nvSpPr>
        <p:spPr>
          <a:xfrm>
            <a:off x="6949440" y="4526280"/>
            <a:ext cx="4663440" cy="1188720"/>
          </a:xfrm>
          <a:prstGeom prst="roundRect">
            <a:avLst>
              <a:gd name="adj" fmla="val 6154"/>
            </a:avLst>
          </a:prstGeom>
          <a:solidFill>
            <a:srgbClr val="FFFFFF"/>
          </a:solidFill>
          <a:ln/>
          <a:effectLst>
            <a:outerShdw sx="100000" sy="100000" kx="0" ky="0" algn="bl" rotWithShape="0" blurRad="76200" dist="25400" dir="5400000">
              <a:srgbClr val="1E2340">
                <a:alpha val="12000"/>
              </a:srgbClr>
            </a:outerShdw>
          </a:effectLst>
        </p:spPr>
      </p:sp>
      <p:sp>
        <p:nvSpPr>
          <p:cNvPr id="19" name="Shape 17"/>
          <p:cNvSpPr/>
          <p:nvPr/>
        </p:nvSpPr>
        <p:spPr>
          <a:xfrm>
            <a:off x="7205472" y="4782312"/>
            <a:ext cx="54864" cy="676656"/>
          </a:xfrm>
          <a:prstGeom prst="rect">
            <a:avLst/>
          </a:prstGeom>
          <a:solidFill>
            <a:srgbClr val="0E7C7B"/>
          </a:solidFill>
          <a:ln/>
        </p:spPr>
      </p:sp>
      <p:sp>
        <p:nvSpPr>
          <p:cNvPr id="20" name="Text 18"/>
          <p:cNvSpPr/>
          <p:nvPr/>
        </p:nvSpPr>
        <p:spPr>
          <a:xfrm>
            <a:off x="7452360" y="4690872"/>
            <a:ext cx="3931920" cy="457200"/>
          </a:xfrm>
          <a:prstGeom prst="rect">
            <a:avLst/>
          </a:prstGeom>
          <a:noFill/>
          <a:ln/>
        </p:spPr>
        <p:txBody>
          <a:bodyPr wrap="square" lIns="0" tIns="0" rIns="0" bIns="0" rtlCol="0" anchor="ctr"/>
          <a:lstStyle/>
          <a:p>
            <a:pPr indent="0" marL="0">
              <a:buNone/>
            </a:pPr>
            <a:r>
              <a:rPr lang="en-US" sz="1900" b="1" dirty="0">
                <a:solidFill>
                  <a:srgbClr val="1E2340"/>
                </a:solidFill>
                <a:latin typeface="Cambria" pitchFamily="34" charset="0"/>
                <a:ea typeface="Cambria" pitchFamily="34" charset="-122"/>
                <a:cs typeface="Cambria" pitchFamily="34" charset="-120"/>
              </a:rPr>
              <a:t>Global Reach</a:t>
            </a:r>
            <a:endParaRPr lang="en-US" sz="1900" dirty="0"/>
          </a:p>
        </p:txBody>
      </p:sp>
      <p:sp>
        <p:nvSpPr>
          <p:cNvPr id="21" name="Text 19"/>
          <p:cNvSpPr/>
          <p:nvPr/>
        </p:nvSpPr>
        <p:spPr>
          <a:xfrm>
            <a:off x="7452360" y="5148072"/>
            <a:ext cx="3931920" cy="50292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Players connect from anywhere, in real time</a:t>
            </a:r>
            <a:endParaRPr lang="en-US" sz="1250" dirty="0"/>
          </a:p>
        </p:txBody>
      </p:sp>
      <p:sp>
        <p:nvSpPr>
          <p:cNvPr id="22" name="Text 20"/>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CSE299 Project Proposal  |  Literature Review</a:t>
            </a:r>
            <a:endParaRPr lang="en-US" sz="1000" dirty="0"/>
          </a:p>
        </p:txBody>
      </p:sp>
      <p:sp>
        <p:nvSpPr>
          <p:cNvPr id="23" name="Text 21"/>
          <p:cNvSpPr/>
          <p:nvPr/>
        </p:nvSpPr>
        <p:spPr>
          <a:xfrm>
            <a:off x="11365992"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340"/>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300" b="1" spc="200" kern="0" dirty="0">
                <a:solidFill>
                  <a:srgbClr val="0E7C7B"/>
                </a:solidFill>
                <a:latin typeface="Calibri" pitchFamily="34" charset="0"/>
                <a:ea typeface="Calibri" pitchFamily="34" charset="-122"/>
                <a:cs typeface="Calibri" pitchFamily="34" charset="-120"/>
              </a:rPr>
              <a:t>2.2 NETWORKING</a:t>
            </a:r>
            <a:endParaRPr lang="en-US" sz="1300" dirty="0"/>
          </a:p>
        </p:txBody>
      </p:sp>
      <p:sp>
        <p:nvSpPr>
          <p:cNvPr id="3" name="Text 1"/>
          <p:cNvSpPr/>
          <p:nvPr/>
        </p:nvSpPr>
        <p:spPr>
          <a:xfrm>
            <a:off x="548640" y="713232"/>
            <a:ext cx="1060704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Real-Time Multiplayer Systems</a:t>
            </a:r>
            <a:endParaRPr lang="en-US" sz="3000" dirty="0"/>
          </a:p>
        </p:txBody>
      </p:sp>
      <p:sp>
        <p:nvSpPr>
          <p:cNvPr id="4" name="Shape 2"/>
          <p:cNvSpPr/>
          <p:nvPr/>
        </p:nvSpPr>
        <p:spPr>
          <a:xfrm>
            <a:off x="11109960" y="502920"/>
            <a:ext cx="164592" cy="164592"/>
          </a:xfrm>
          <a:prstGeom prst="ellipse">
            <a:avLst/>
          </a:prstGeom>
          <a:solidFill>
            <a:srgbClr val="D62828"/>
          </a:solidFill>
          <a:ln/>
        </p:spPr>
      </p:sp>
      <p:sp>
        <p:nvSpPr>
          <p:cNvPr id="5" name="Shape 3"/>
          <p:cNvSpPr/>
          <p:nvPr/>
        </p:nvSpPr>
        <p:spPr>
          <a:xfrm>
            <a:off x="11329416" y="502920"/>
            <a:ext cx="164592" cy="164592"/>
          </a:xfrm>
          <a:prstGeom prst="ellipse">
            <a:avLst/>
          </a:prstGeom>
          <a:solidFill>
            <a:srgbClr val="2A9D8F"/>
          </a:solidFill>
          <a:ln/>
        </p:spPr>
      </p:sp>
      <p:sp>
        <p:nvSpPr>
          <p:cNvPr id="6" name="Shape 4"/>
          <p:cNvSpPr/>
          <p:nvPr/>
        </p:nvSpPr>
        <p:spPr>
          <a:xfrm>
            <a:off x="11548872" y="502920"/>
            <a:ext cx="164592" cy="164592"/>
          </a:xfrm>
          <a:prstGeom prst="ellipse">
            <a:avLst/>
          </a:prstGeom>
          <a:solidFill>
            <a:srgbClr val="E9C46A"/>
          </a:solidFill>
          <a:ln/>
        </p:spPr>
      </p:sp>
      <p:sp>
        <p:nvSpPr>
          <p:cNvPr id="7" name="Shape 5"/>
          <p:cNvSpPr/>
          <p:nvPr/>
        </p:nvSpPr>
        <p:spPr>
          <a:xfrm>
            <a:off x="11768328" y="502920"/>
            <a:ext cx="164592" cy="164592"/>
          </a:xfrm>
          <a:prstGeom prst="ellipse">
            <a:avLst/>
          </a:prstGeom>
          <a:solidFill>
            <a:srgbClr val="277DA1"/>
          </a:solidFill>
          <a:ln/>
        </p:spPr>
      </p:sp>
      <p:sp>
        <p:nvSpPr>
          <p:cNvPr id="8" name="Text 6"/>
          <p:cNvSpPr/>
          <p:nvPr/>
        </p:nvSpPr>
        <p:spPr>
          <a:xfrm>
            <a:off x="548640" y="1691640"/>
            <a:ext cx="10607040" cy="640080"/>
          </a:xfrm>
          <a:prstGeom prst="rect">
            <a:avLst/>
          </a:prstGeom>
          <a:noFill/>
          <a:ln/>
        </p:spPr>
        <p:txBody>
          <a:bodyPr wrap="square" lIns="0" tIns="0" rIns="0" bIns="0" rtlCol="0" anchor="ctr"/>
          <a:lstStyle/>
          <a:p>
            <a:pPr indent="0" marL="0">
              <a:lnSpc>
                <a:spcPct val="130000"/>
              </a:lnSpc>
              <a:buNone/>
            </a:pPr>
            <a:r>
              <a:rPr lang="en-US" sz="1600" dirty="0">
                <a:solidFill>
                  <a:srgbClr val="C7CBE8"/>
                </a:solidFill>
                <a:latin typeface="Calibri" pitchFamily="34" charset="0"/>
                <a:ea typeface="Calibri" pitchFamily="34" charset="-122"/>
                <a:cs typeface="Calibri" pitchFamily="34" charset="-120"/>
              </a:rPr>
              <a:t>Multiplayer games demand instant, continuous synchronization — very different from turn-based apps that rely on periodic HTTP requests.</a:t>
            </a:r>
            <a:endParaRPr lang="en-US" sz="1600" dirty="0"/>
          </a:p>
        </p:txBody>
      </p:sp>
      <p:sp>
        <p:nvSpPr>
          <p:cNvPr id="9" name="Shape 7"/>
          <p:cNvSpPr/>
          <p:nvPr/>
        </p:nvSpPr>
        <p:spPr>
          <a:xfrm>
            <a:off x="548640" y="2606040"/>
            <a:ext cx="5074920" cy="3200400"/>
          </a:xfrm>
          <a:prstGeom prst="roundRect">
            <a:avLst>
              <a:gd name="adj" fmla="val 2286"/>
            </a:avLst>
          </a:prstGeom>
          <a:solidFill>
            <a:srgbClr val="2A2F55"/>
          </a:solidFill>
          <a:ln w="12700">
            <a:solidFill>
              <a:srgbClr val="3A4070"/>
            </a:solidFill>
            <a:prstDash val="solid"/>
          </a:ln>
        </p:spPr>
      </p:sp>
      <p:sp>
        <p:nvSpPr>
          <p:cNvPr id="10" name="Text 8"/>
          <p:cNvSpPr/>
          <p:nvPr/>
        </p:nvSpPr>
        <p:spPr>
          <a:xfrm>
            <a:off x="868680" y="2880360"/>
            <a:ext cx="4434840" cy="457200"/>
          </a:xfrm>
          <a:prstGeom prst="rect">
            <a:avLst/>
          </a:prstGeom>
          <a:noFill/>
          <a:ln/>
        </p:spPr>
        <p:txBody>
          <a:bodyPr wrap="square" lIns="0" tIns="0" rIns="0" bIns="0" rtlCol="0" anchor="ctr"/>
          <a:lstStyle/>
          <a:p>
            <a:pPr indent="0" marL="0">
              <a:buNone/>
            </a:pPr>
            <a:r>
              <a:rPr lang="en-US" sz="1600" b="1" dirty="0">
                <a:solidFill>
                  <a:srgbClr val="C7CBE8"/>
                </a:solidFill>
                <a:latin typeface="Calibri" pitchFamily="34" charset="0"/>
                <a:ea typeface="Calibri" pitchFamily="34" charset="-122"/>
                <a:cs typeface="Calibri" pitchFamily="34" charset="-120"/>
              </a:rPr>
              <a:t>Traditional HTTP Requests</a:t>
            </a:r>
            <a:endParaRPr lang="en-US" sz="1600" dirty="0"/>
          </a:p>
        </p:txBody>
      </p:sp>
      <p:sp>
        <p:nvSpPr>
          <p:cNvPr id="11" name="Text 9"/>
          <p:cNvSpPr/>
          <p:nvPr/>
        </p:nvSpPr>
        <p:spPr>
          <a:xfrm>
            <a:off x="868680" y="3474720"/>
            <a:ext cx="4434840" cy="457200"/>
          </a:xfrm>
          <a:prstGeom prst="rect">
            <a:avLst/>
          </a:prstGeom>
          <a:noFill/>
          <a:ln/>
        </p:spPr>
        <p:txBody>
          <a:bodyPr wrap="square" lIns="0" tIns="0" rIns="0" bIns="0" rtlCol="0" anchor="ctr"/>
          <a:lstStyle/>
          <a:p>
            <a:pPr marL="342900" indent="-342900">
              <a:buSzPct val="100000"/>
              <a:buChar char="–"/>
            </a:pPr>
            <a:r>
              <a:rPr lang="en-US" sz="1300" dirty="0">
                <a:solidFill>
                  <a:srgbClr val="9AA0C0"/>
                </a:solidFill>
                <a:latin typeface="Calibri" pitchFamily="34" charset="0"/>
                <a:ea typeface="Calibri" pitchFamily="34" charset="-122"/>
                <a:cs typeface="Calibri" pitchFamily="34" charset="-120"/>
              </a:rPr>
              <a:t>Client repeatedly polls the server</a:t>
            </a:r>
            <a:endParaRPr lang="en-US" sz="1300" dirty="0"/>
          </a:p>
        </p:txBody>
      </p:sp>
      <p:sp>
        <p:nvSpPr>
          <p:cNvPr id="12" name="Text 10"/>
          <p:cNvSpPr/>
          <p:nvPr/>
        </p:nvSpPr>
        <p:spPr>
          <a:xfrm>
            <a:off x="868680" y="4005072"/>
            <a:ext cx="4434840" cy="457200"/>
          </a:xfrm>
          <a:prstGeom prst="rect">
            <a:avLst/>
          </a:prstGeom>
          <a:noFill/>
          <a:ln/>
        </p:spPr>
        <p:txBody>
          <a:bodyPr wrap="square" lIns="0" tIns="0" rIns="0" bIns="0" rtlCol="0" anchor="ctr"/>
          <a:lstStyle/>
          <a:p>
            <a:pPr marL="342900" indent="-342900">
              <a:buSzPct val="100000"/>
              <a:buChar char="–"/>
            </a:pPr>
            <a:r>
              <a:rPr lang="en-US" sz="1300" dirty="0">
                <a:solidFill>
                  <a:srgbClr val="9AA0C0"/>
                </a:solidFill>
                <a:latin typeface="Calibri" pitchFamily="34" charset="0"/>
                <a:ea typeface="Calibri" pitchFamily="34" charset="-122"/>
                <a:cs typeface="Calibri" pitchFamily="34" charset="-120"/>
              </a:rPr>
              <a:t>One-directional request/response cycle</a:t>
            </a:r>
            <a:endParaRPr lang="en-US" sz="1300" dirty="0"/>
          </a:p>
        </p:txBody>
      </p:sp>
      <p:sp>
        <p:nvSpPr>
          <p:cNvPr id="13" name="Text 11"/>
          <p:cNvSpPr/>
          <p:nvPr/>
        </p:nvSpPr>
        <p:spPr>
          <a:xfrm>
            <a:off x="868680" y="4535424"/>
            <a:ext cx="4434840" cy="457200"/>
          </a:xfrm>
          <a:prstGeom prst="rect">
            <a:avLst/>
          </a:prstGeom>
          <a:noFill/>
          <a:ln/>
        </p:spPr>
        <p:txBody>
          <a:bodyPr wrap="square" lIns="0" tIns="0" rIns="0" bIns="0" rtlCol="0" anchor="ctr"/>
          <a:lstStyle/>
          <a:p>
            <a:pPr marL="342900" indent="-342900">
              <a:buSzPct val="100000"/>
              <a:buChar char="–"/>
            </a:pPr>
            <a:r>
              <a:rPr lang="en-US" sz="1300" dirty="0">
                <a:solidFill>
                  <a:srgbClr val="9AA0C0"/>
                </a:solidFill>
                <a:latin typeface="Calibri" pitchFamily="34" charset="0"/>
                <a:ea typeface="Calibri" pitchFamily="34" charset="-122"/>
                <a:cs typeface="Calibri" pitchFamily="34" charset="-120"/>
              </a:rPr>
              <a:t>Higher latency, unnecessary network overhead</a:t>
            </a:r>
            <a:endParaRPr lang="en-US" sz="1300" dirty="0"/>
          </a:p>
        </p:txBody>
      </p:sp>
      <p:sp>
        <p:nvSpPr>
          <p:cNvPr id="14" name="Text 12"/>
          <p:cNvSpPr/>
          <p:nvPr/>
        </p:nvSpPr>
        <p:spPr>
          <a:xfrm>
            <a:off x="868680" y="5065776"/>
            <a:ext cx="4434840" cy="457200"/>
          </a:xfrm>
          <a:prstGeom prst="rect">
            <a:avLst/>
          </a:prstGeom>
          <a:noFill/>
          <a:ln/>
        </p:spPr>
        <p:txBody>
          <a:bodyPr wrap="square" lIns="0" tIns="0" rIns="0" bIns="0" rtlCol="0" anchor="ctr"/>
          <a:lstStyle/>
          <a:p>
            <a:pPr marL="342900" indent="-342900">
              <a:buSzPct val="100000"/>
              <a:buChar char="–"/>
            </a:pPr>
            <a:r>
              <a:rPr lang="en-US" sz="1300" dirty="0">
                <a:solidFill>
                  <a:srgbClr val="9AA0C0"/>
                </a:solidFill>
                <a:latin typeface="Calibri" pitchFamily="34" charset="0"/>
                <a:ea typeface="Calibri" pitchFamily="34" charset="-122"/>
                <a:cs typeface="Calibri" pitchFamily="34" charset="-120"/>
              </a:rPr>
              <a:t>Suited to turn-based, non-real-time apps</a:t>
            </a:r>
            <a:endParaRPr lang="en-US" sz="1300" dirty="0"/>
          </a:p>
        </p:txBody>
      </p:sp>
      <p:sp>
        <p:nvSpPr>
          <p:cNvPr id="15" name="Shape 13"/>
          <p:cNvSpPr/>
          <p:nvPr/>
        </p:nvSpPr>
        <p:spPr>
          <a:xfrm>
            <a:off x="6537960" y="2606040"/>
            <a:ext cx="5074920" cy="3200400"/>
          </a:xfrm>
          <a:prstGeom prst="roundRect">
            <a:avLst>
              <a:gd name="adj" fmla="val 2286"/>
            </a:avLst>
          </a:prstGeom>
          <a:solidFill>
            <a:srgbClr val="0E7C7B"/>
          </a:solidFill>
          <a:ln/>
          <a:effectLst>
            <a:outerShdw sx="100000" sy="100000" kx="0" ky="0" algn="bl" rotWithShape="0" blurRad="127000" dist="38100" dir="5400000">
              <a:srgbClr val="000000">
                <a:alpha val="25000"/>
              </a:srgbClr>
            </a:outerShdw>
          </a:effectLst>
        </p:spPr>
      </p:sp>
      <p:sp>
        <p:nvSpPr>
          <p:cNvPr id="16" name="Text 14"/>
          <p:cNvSpPr/>
          <p:nvPr/>
        </p:nvSpPr>
        <p:spPr>
          <a:xfrm>
            <a:off x="6858000" y="2880360"/>
            <a:ext cx="443484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WebSockets  ·  Socket.IO</a:t>
            </a:r>
            <a:endParaRPr lang="en-US" sz="1600" dirty="0"/>
          </a:p>
        </p:txBody>
      </p:sp>
      <p:sp>
        <p:nvSpPr>
          <p:cNvPr id="17" name="Text 15"/>
          <p:cNvSpPr/>
          <p:nvPr/>
        </p:nvSpPr>
        <p:spPr>
          <a:xfrm>
            <a:off x="6858000" y="3474720"/>
            <a:ext cx="4434840" cy="457200"/>
          </a:xfrm>
          <a:prstGeom prst="rect">
            <a:avLst/>
          </a:prstGeom>
          <a:noFill/>
          <a:ln/>
        </p:spPr>
        <p:txBody>
          <a:bodyPr wrap="square" lIns="0" tIns="0" rIns="0" bIns="0" rtlCol="0" anchor="ctr"/>
          <a:lstStyle/>
          <a:p>
            <a:pPr marL="342900" indent="-342900">
              <a:buSzPct val="100000"/>
              <a:buChar char="–"/>
            </a:pPr>
            <a:r>
              <a:rPr lang="en-US" sz="1300" dirty="0">
                <a:solidFill>
                  <a:srgbClr val="EAF7F6"/>
                </a:solidFill>
                <a:latin typeface="Calibri" pitchFamily="34" charset="0"/>
                <a:ea typeface="Calibri" pitchFamily="34" charset="-122"/>
                <a:cs typeface="Calibri" pitchFamily="34" charset="-120"/>
              </a:rPr>
              <a:t>Full-duplex, persistent connection</a:t>
            </a:r>
            <a:endParaRPr lang="en-US" sz="1300" dirty="0"/>
          </a:p>
        </p:txBody>
      </p:sp>
      <p:sp>
        <p:nvSpPr>
          <p:cNvPr id="18" name="Text 16"/>
          <p:cNvSpPr/>
          <p:nvPr/>
        </p:nvSpPr>
        <p:spPr>
          <a:xfrm>
            <a:off x="6858000" y="4005072"/>
            <a:ext cx="4434840" cy="457200"/>
          </a:xfrm>
          <a:prstGeom prst="rect">
            <a:avLst/>
          </a:prstGeom>
          <a:noFill/>
          <a:ln/>
        </p:spPr>
        <p:txBody>
          <a:bodyPr wrap="square" lIns="0" tIns="0" rIns="0" bIns="0" rtlCol="0" anchor="ctr"/>
          <a:lstStyle/>
          <a:p>
            <a:pPr marL="342900" indent="-342900">
              <a:buSzPct val="100000"/>
              <a:buChar char="–"/>
            </a:pPr>
            <a:r>
              <a:rPr lang="en-US" sz="1300" dirty="0">
                <a:solidFill>
                  <a:srgbClr val="EAF7F6"/>
                </a:solidFill>
                <a:latin typeface="Calibri" pitchFamily="34" charset="0"/>
                <a:ea typeface="Calibri" pitchFamily="34" charset="-122"/>
                <a:cs typeface="Calibri" pitchFamily="34" charset="-120"/>
              </a:rPr>
              <a:t>Instant, low-latency event broadcasting</a:t>
            </a:r>
            <a:endParaRPr lang="en-US" sz="1300" dirty="0"/>
          </a:p>
        </p:txBody>
      </p:sp>
      <p:sp>
        <p:nvSpPr>
          <p:cNvPr id="19" name="Text 17"/>
          <p:cNvSpPr/>
          <p:nvPr/>
        </p:nvSpPr>
        <p:spPr>
          <a:xfrm>
            <a:off x="6858000" y="4535424"/>
            <a:ext cx="4434840" cy="457200"/>
          </a:xfrm>
          <a:prstGeom prst="rect">
            <a:avLst/>
          </a:prstGeom>
          <a:noFill/>
          <a:ln/>
        </p:spPr>
        <p:txBody>
          <a:bodyPr wrap="square" lIns="0" tIns="0" rIns="0" bIns="0" rtlCol="0" anchor="ctr"/>
          <a:lstStyle/>
          <a:p>
            <a:pPr marL="342900" indent="-342900">
              <a:buSzPct val="100000"/>
              <a:buChar char="–"/>
            </a:pPr>
            <a:r>
              <a:rPr lang="en-US" sz="1300" dirty="0">
                <a:solidFill>
                  <a:srgbClr val="EAF7F6"/>
                </a:solidFill>
                <a:latin typeface="Calibri" pitchFamily="34" charset="0"/>
                <a:ea typeface="Calibri" pitchFamily="34" charset="-122"/>
                <a:cs typeface="Calibri" pitchFamily="34" charset="-120"/>
              </a:rPr>
              <a:t>Automatic reconnection &amp; reliability handling</a:t>
            </a:r>
            <a:endParaRPr lang="en-US" sz="1300" dirty="0"/>
          </a:p>
        </p:txBody>
      </p:sp>
      <p:sp>
        <p:nvSpPr>
          <p:cNvPr id="20" name="Text 18"/>
          <p:cNvSpPr/>
          <p:nvPr/>
        </p:nvSpPr>
        <p:spPr>
          <a:xfrm>
            <a:off x="6858000" y="5065776"/>
            <a:ext cx="4434840" cy="457200"/>
          </a:xfrm>
          <a:prstGeom prst="rect">
            <a:avLst/>
          </a:prstGeom>
          <a:noFill/>
          <a:ln/>
        </p:spPr>
        <p:txBody>
          <a:bodyPr wrap="square" lIns="0" tIns="0" rIns="0" bIns="0" rtlCol="0" anchor="ctr"/>
          <a:lstStyle/>
          <a:p>
            <a:pPr marL="342900" indent="-342900">
              <a:buSzPct val="100000"/>
              <a:buChar char="–"/>
            </a:pPr>
            <a:r>
              <a:rPr lang="en-US" sz="1300" dirty="0">
                <a:solidFill>
                  <a:srgbClr val="EAF7F6"/>
                </a:solidFill>
                <a:latin typeface="Calibri" pitchFamily="34" charset="0"/>
                <a:ea typeface="Calibri" pitchFamily="34" charset="-122"/>
                <a:cs typeface="Calibri" pitchFamily="34" charset="-120"/>
              </a:rPr>
              <a:t>Keeps every player's game state in sync</a:t>
            </a:r>
            <a:endParaRPr lang="en-US" sz="1300" dirty="0"/>
          </a:p>
        </p:txBody>
      </p:sp>
      <p:sp>
        <p:nvSpPr>
          <p:cNvPr id="21" name="Text 19"/>
          <p:cNvSpPr/>
          <p:nvPr/>
        </p:nvSpPr>
        <p:spPr>
          <a:xfrm>
            <a:off x="6537960" y="5916168"/>
            <a:ext cx="5074920" cy="274320"/>
          </a:xfrm>
          <a:prstGeom prst="rect">
            <a:avLst/>
          </a:prstGeom>
          <a:noFill/>
          <a:ln/>
        </p:spPr>
        <p:txBody>
          <a:bodyPr wrap="square" lIns="0" tIns="0" rIns="0" bIns="0" rtlCol="0" anchor="ctr"/>
          <a:lstStyle/>
          <a:p>
            <a:pPr algn="r" indent="0" marL="0">
              <a:buNone/>
            </a:pPr>
            <a:r>
              <a:rPr lang="en-US" sz="1150" i="1" dirty="0">
                <a:solidFill>
                  <a:srgbClr val="F2A541"/>
                </a:solidFill>
                <a:latin typeface="Calibri" pitchFamily="34" charset="0"/>
                <a:ea typeface="Calibri" pitchFamily="34" charset="-122"/>
                <a:cs typeface="Calibri" pitchFamily="34" charset="-120"/>
              </a:rPr>
              <a:t>Chosen approach for this project</a:t>
            </a:r>
            <a:endParaRPr lang="en-US" sz="1150" dirty="0"/>
          </a:p>
        </p:txBody>
      </p:sp>
      <p:sp>
        <p:nvSpPr>
          <p:cNvPr id="22" name="Text 20"/>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9AA0C0"/>
                </a:solidFill>
                <a:latin typeface="Calibri" pitchFamily="34" charset="0"/>
                <a:ea typeface="Calibri" pitchFamily="34" charset="-122"/>
                <a:cs typeface="Calibri" pitchFamily="34" charset="-120"/>
              </a:rPr>
              <a:t>CSE299 Project Proposal  |  Literature Review</a:t>
            </a:r>
            <a:endParaRPr lang="en-US" sz="1000" dirty="0"/>
          </a:p>
        </p:txBody>
      </p:sp>
      <p:sp>
        <p:nvSpPr>
          <p:cNvPr id="23" name="Text 21"/>
          <p:cNvSpPr/>
          <p:nvPr/>
        </p:nvSpPr>
        <p:spPr>
          <a:xfrm>
            <a:off x="11365992" y="6473952"/>
            <a:ext cx="457200" cy="274320"/>
          </a:xfrm>
          <a:prstGeom prst="rect">
            <a:avLst/>
          </a:prstGeom>
          <a:noFill/>
          <a:ln/>
        </p:spPr>
        <p:txBody>
          <a:bodyPr wrap="square" lIns="0" tIns="0" rIns="0" bIns="0" rtlCol="0" anchor="ctr"/>
          <a:lstStyle/>
          <a:p>
            <a:pPr algn="r" indent="0" marL="0">
              <a:buNone/>
            </a:pPr>
            <a:r>
              <a:rPr lang="en-US" sz="1000" dirty="0">
                <a:solidFill>
                  <a:srgbClr val="9AA0C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300" b="1" spc="200" kern="0" dirty="0">
                <a:solidFill>
                  <a:srgbClr val="0E7C7B"/>
                </a:solidFill>
                <a:latin typeface="Calibri" pitchFamily="34" charset="0"/>
                <a:ea typeface="Calibri" pitchFamily="34" charset="-122"/>
                <a:cs typeface="Calibri" pitchFamily="34" charset="-120"/>
              </a:rPr>
              <a:t>2.3 SYSTEM DESIGN</a:t>
            </a:r>
            <a:endParaRPr lang="en-US" sz="1300" dirty="0"/>
          </a:p>
        </p:txBody>
      </p:sp>
      <p:sp>
        <p:nvSpPr>
          <p:cNvPr id="3" name="Text 1"/>
          <p:cNvSpPr/>
          <p:nvPr/>
        </p:nvSpPr>
        <p:spPr>
          <a:xfrm>
            <a:off x="548640" y="713232"/>
            <a:ext cx="10607040" cy="685800"/>
          </a:xfrm>
          <a:prstGeom prst="rect">
            <a:avLst/>
          </a:prstGeom>
          <a:noFill/>
          <a:ln/>
        </p:spPr>
        <p:txBody>
          <a:bodyPr wrap="square" lIns="0" tIns="0" rIns="0" bIns="0" rtlCol="0" anchor="ctr"/>
          <a:lstStyle/>
          <a:p>
            <a:pPr indent="0" marL="0">
              <a:buNone/>
            </a:pPr>
            <a:r>
              <a:rPr lang="en-US" sz="3000" b="1" dirty="0">
                <a:solidFill>
                  <a:srgbClr val="1E2340"/>
                </a:solidFill>
                <a:latin typeface="Cambria" pitchFamily="34" charset="0"/>
                <a:ea typeface="Cambria" pitchFamily="34" charset="-122"/>
                <a:cs typeface="Cambria" pitchFamily="34" charset="-120"/>
              </a:rPr>
              <a:t>Server-Authoritative Architecture</a:t>
            </a:r>
            <a:endParaRPr lang="en-US" sz="3000" dirty="0"/>
          </a:p>
        </p:txBody>
      </p:sp>
      <p:sp>
        <p:nvSpPr>
          <p:cNvPr id="4" name="Shape 2"/>
          <p:cNvSpPr/>
          <p:nvPr/>
        </p:nvSpPr>
        <p:spPr>
          <a:xfrm>
            <a:off x="11109960" y="502920"/>
            <a:ext cx="164592" cy="164592"/>
          </a:xfrm>
          <a:prstGeom prst="ellipse">
            <a:avLst/>
          </a:prstGeom>
          <a:solidFill>
            <a:srgbClr val="D62828"/>
          </a:solidFill>
          <a:ln/>
        </p:spPr>
      </p:sp>
      <p:sp>
        <p:nvSpPr>
          <p:cNvPr id="5" name="Shape 3"/>
          <p:cNvSpPr/>
          <p:nvPr/>
        </p:nvSpPr>
        <p:spPr>
          <a:xfrm>
            <a:off x="11329416" y="502920"/>
            <a:ext cx="164592" cy="164592"/>
          </a:xfrm>
          <a:prstGeom prst="ellipse">
            <a:avLst/>
          </a:prstGeom>
          <a:solidFill>
            <a:srgbClr val="2A9D8F"/>
          </a:solidFill>
          <a:ln/>
        </p:spPr>
      </p:sp>
      <p:sp>
        <p:nvSpPr>
          <p:cNvPr id="6" name="Shape 4"/>
          <p:cNvSpPr/>
          <p:nvPr/>
        </p:nvSpPr>
        <p:spPr>
          <a:xfrm>
            <a:off x="11548872" y="502920"/>
            <a:ext cx="164592" cy="164592"/>
          </a:xfrm>
          <a:prstGeom prst="ellipse">
            <a:avLst/>
          </a:prstGeom>
          <a:solidFill>
            <a:srgbClr val="E9C46A"/>
          </a:solidFill>
          <a:ln/>
        </p:spPr>
      </p:sp>
      <p:sp>
        <p:nvSpPr>
          <p:cNvPr id="7" name="Shape 5"/>
          <p:cNvSpPr/>
          <p:nvPr/>
        </p:nvSpPr>
        <p:spPr>
          <a:xfrm>
            <a:off x="11768328" y="502920"/>
            <a:ext cx="164592" cy="164592"/>
          </a:xfrm>
          <a:prstGeom prst="ellipse">
            <a:avLst/>
          </a:prstGeom>
          <a:solidFill>
            <a:srgbClr val="277DA1"/>
          </a:solidFill>
          <a:ln/>
        </p:spPr>
      </p:sp>
      <p:sp>
        <p:nvSpPr>
          <p:cNvPr id="8" name="Text 6"/>
          <p:cNvSpPr/>
          <p:nvPr/>
        </p:nvSpPr>
        <p:spPr>
          <a:xfrm>
            <a:off x="548640" y="1645920"/>
            <a:ext cx="10698480" cy="777240"/>
          </a:xfrm>
          <a:prstGeom prst="rect">
            <a:avLst/>
          </a:prstGeom>
          <a:noFill/>
          <a:ln/>
        </p:spPr>
        <p:txBody>
          <a:bodyPr wrap="square" lIns="0" tIns="0" rIns="0" bIns="0" rtlCol="0" anchor="ctr"/>
          <a:lstStyle/>
          <a:p>
            <a:pPr indent="0" marL="0">
              <a:lnSpc>
                <a:spcPct val="130000"/>
              </a:lnSpc>
              <a:buNone/>
            </a:pPr>
            <a:r>
              <a:rPr lang="en-US" sz="1500" dirty="0">
                <a:solidFill>
                  <a:srgbClr val="1E2340"/>
                </a:solidFill>
                <a:latin typeface="Calibri" pitchFamily="34" charset="0"/>
                <a:ea typeface="Calibri" pitchFamily="34" charset="-122"/>
                <a:cs typeface="Calibri" pitchFamily="34" charset="-120"/>
              </a:rPr>
              <a:t>A major challenge in multiplayer development is preventing cheating while keeping every client's data consistent. In a server-authoritative model, the server — not the client — validates every gameplay decision.</a:t>
            </a:r>
            <a:endParaRPr lang="en-US" sz="1500" dirty="0"/>
          </a:p>
        </p:txBody>
      </p:sp>
      <p:sp>
        <p:nvSpPr>
          <p:cNvPr id="9" name="Shape 7"/>
          <p:cNvSpPr/>
          <p:nvPr/>
        </p:nvSpPr>
        <p:spPr>
          <a:xfrm>
            <a:off x="1888236" y="2697480"/>
            <a:ext cx="2468880" cy="1051560"/>
          </a:xfrm>
          <a:prstGeom prst="roundRect">
            <a:avLst>
              <a:gd name="adj" fmla="val 8696"/>
            </a:avLst>
          </a:prstGeom>
          <a:solidFill>
            <a:srgbClr val="2A2F55"/>
          </a:solidFill>
          <a:ln/>
          <a:effectLst>
            <a:outerShdw sx="100000" sy="100000" kx="0" ky="0" algn="bl" rotWithShape="0" blurRad="76200" dist="25400" dir="5400000">
              <a:srgbClr val="1E2340">
                <a:alpha val="18000"/>
              </a:srgbClr>
            </a:outerShdw>
          </a:effectLst>
        </p:spPr>
      </p:sp>
      <p:sp>
        <p:nvSpPr>
          <p:cNvPr id="10" name="Text 8"/>
          <p:cNvSpPr/>
          <p:nvPr/>
        </p:nvSpPr>
        <p:spPr>
          <a:xfrm>
            <a:off x="1888236" y="2807208"/>
            <a:ext cx="246888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Client</a:t>
            </a:r>
            <a:endParaRPr lang="en-US" sz="1500" dirty="0"/>
          </a:p>
        </p:txBody>
      </p:sp>
      <p:sp>
        <p:nvSpPr>
          <p:cNvPr id="11" name="Text 9"/>
          <p:cNvSpPr/>
          <p:nvPr/>
        </p:nvSpPr>
        <p:spPr>
          <a:xfrm>
            <a:off x="2025396" y="3136392"/>
            <a:ext cx="2194560" cy="548640"/>
          </a:xfrm>
          <a:prstGeom prst="rect">
            <a:avLst/>
          </a:prstGeom>
          <a:noFill/>
          <a:ln/>
        </p:spPr>
        <p:txBody>
          <a:bodyPr wrap="square" lIns="0" tIns="0" rIns="0" bIns="0" rtlCol="0" anchor="ctr"/>
          <a:lstStyle/>
          <a:p>
            <a:pPr algn="ctr" indent="0" marL="0">
              <a:lnSpc>
                <a:spcPct val="115000"/>
              </a:lnSpc>
              <a:buNone/>
            </a:pPr>
            <a:r>
              <a:rPr lang="en-US" sz="1050" dirty="0">
                <a:solidFill>
                  <a:srgbClr val="FFFFFF"/>
                </a:solidFill>
                <a:latin typeface="Calibri" pitchFamily="34" charset="0"/>
                <a:ea typeface="Calibri" pitchFamily="34" charset="-122"/>
                <a:cs typeface="Calibri" pitchFamily="34" charset="-120"/>
              </a:rPr>
              <a:t>Requests an action</a:t>
            </a:r>
            <a:endParaRPr lang="en-US" sz="1050" dirty="0"/>
          </a:p>
          <a:p>
            <a:pPr algn="ctr" indent="0" marL="0">
              <a:lnSpc>
                <a:spcPct val="115000"/>
              </a:lnSpc>
              <a:buNone/>
            </a:pPr>
            <a:r>
              <a:rPr lang="en-US" sz="1050" dirty="0">
                <a:solidFill>
                  <a:srgbClr val="FFFFFF"/>
                </a:solidFill>
                <a:latin typeface="Calibri" pitchFamily="34" charset="0"/>
                <a:ea typeface="Calibri" pitchFamily="34" charset="-122"/>
                <a:cs typeface="Calibri" pitchFamily="34" charset="-120"/>
              </a:rPr>
              <a:t>(e.g. roll dice, move token)</a:t>
            </a:r>
            <a:endParaRPr lang="en-US" sz="1050" dirty="0"/>
          </a:p>
        </p:txBody>
      </p:sp>
      <p:sp>
        <p:nvSpPr>
          <p:cNvPr id="12" name="Text 10"/>
          <p:cNvSpPr/>
          <p:nvPr/>
        </p:nvSpPr>
        <p:spPr>
          <a:xfrm>
            <a:off x="4357116" y="2697480"/>
            <a:ext cx="502920" cy="1051560"/>
          </a:xfrm>
          <a:prstGeom prst="rect">
            <a:avLst/>
          </a:prstGeom>
          <a:noFill/>
          <a:ln/>
        </p:spPr>
        <p:txBody>
          <a:bodyPr wrap="square" lIns="0" tIns="0" rIns="0" bIns="0" rtlCol="0" anchor="ctr"/>
          <a:lstStyle/>
          <a:p>
            <a:pPr algn="ctr" indent="0" marL="0">
              <a:buNone/>
            </a:pPr>
            <a:r>
              <a:rPr lang="en-US" sz="2600" dirty="0">
                <a:solidFill>
                  <a:srgbClr val="F2A541"/>
                </a:solidFill>
                <a:latin typeface="Calibri" pitchFamily="34" charset="0"/>
                <a:ea typeface="Calibri" pitchFamily="34" charset="-122"/>
                <a:cs typeface="Calibri" pitchFamily="34" charset="-120"/>
              </a:rPr>
              <a:t>→</a:t>
            </a:r>
            <a:endParaRPr lang="en-US" sz="2600" dirty="0"/>
          </a:p>
        </p:txBody>
      </p:sp>
      <p:sp>
        <p:nvSpPr>
          <p:cNvPr id="13" name="Shape 11"/>
          <p:cNvSpPr/>
          <p:nvPr/>
        </p:nvSpPr>
        <p:spPr>
          <a:xfrm>
            <a:off x="4860036" y="2697480"/>
            <a:ext cx="2468880" cy="1051560"/>
          </a:xfrm>
          <a:prstGeom prst="roundRect">
            <a:avLst>
              <a:gd name="adj" fmla="val 8696"/>
            </a:avLst>
          </a:prstGeom>
          <a:solidFill>
            <a:srgbClr val="0E7C7B"/>
          </a:solidFill>
          <a:ln/>
          <a:effectLst>
            <a:outerShdw sx="100000" sy="100000" kx="0" ky="0" algn="bl" rotWithShape="0" blurRad="76200" dist="25400" dir="5400000">
              <a:srgbClr val="1E2340">
                <a:alpha val="18000"/>
              </a:srgbClr>
            </a:outerShdw>
          </a:effectLst>
        </p:spPr>
      </p:sp>
      <p:sp>
        <p:nvSpPr>
          <p:cNvPr id="14" name="Text 12"/>
          <p:cNvSpPr/>
          <p:nvPr/>
        </p:nvSpPr>
        <p:spPr>
          <a:xfrm>
            <a:off x="4860036" y="2807208"/>
            <a:ext cx="246888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Server</a:t>
            </a:r>
            <a:endParaRPr lang="en-US" sz="1500" dirty="0"/>
          </a:p>
        </p:txBody>
      </p:sp>
      <p:sp>
        <p:nvSpPr>
          <p:cNvPr id="15" name="Text 13"/>
          <p:cNvSpPr/>
          <p:nvPr/>
        </p:nvSpPr>
        <p:spPr>
          <a:xfrm>
            <a:off x="4997196" y="3136392"/>
            <a:ext cx="2194560" cy="548640"/>
          </a:xfrm>
          <a:prstGeom prst="rect">
            <a:avLst/>
          </a:prstGeom>
          <a:noFill/>
          <a:ln/>
        </p:spPr>
        <p:txBody>
          <a:bodyPr wrap="square" lIns="0" tIns="0" rIns="0" bIns="0" rtlCol="0" anchor="ctr"/>
          <a:lstStyle/>
          <a:p>
            <a:pPr algn="ctr" indent="0" marL="0">
              <a:lnSpc>
                <a:spcPct val="115000"/>
              </a:lnSpc>
              <a:buNone/>
            </a:pPr>
            <a:r>
              <a:rPr lang="en-US" sz="1050" dirty="0">
                <a:solidFill>
                  <a:srgbClr val="FFFFFF"/>
                </a:solidFill>
                <a:latin typeface="Calibri" pitchFamily="34" charset="0"/>
                <a:ea typeface="Calibri" pitchFamily="34" charset="-122"/>
                <a:cs typeface="Calibri" pitchFamily="34" charset="-120"/>
              </a:rPr>
              <a:t>Validates against</a:t>
            </a:r>
            <a:endParaRPr lang="en-US" sz="1050" dirty="0"/>
          </a:p>
          <a:p>
            <a:pPr algn="ctr" indent="0" marL="0">
              <a:lnSpc>
                <a:spcPct val="115000"/>
              </a:lnSpc>
              <a:buNone/>
            </a:pPr>
            <a:r>
              <a:rPr lang="en-US" sz="1050" dirty="0">
                <a:solidFill>
                  <a:srgbClr val="FFFFFF"/>
                </a:solidFill>
                <a:latin typeface="Calibri" pitchFamily="34" charset="0"/>
                <a:ea typeface="Calibri" pitchFamily="34" charset="-122"/>
                <a:cs typeface="Calibri" pitchFamily="34" charset="-120"/>
              </a:rPr>
              <a:t>official game rules</a:t>
            </a:r>
            <a:endParaRPr lang="en-US" sz="1050" dirty="0"/>
          </a:p>
        </p:txBody>
      </p:sp>
      <p:sp>
        <p:nvSpPr>
          <p:cNvPr id="16" name="Text 14"/>
          <p:cNvSpPr/>
          <p:nvPr/>
        </p:nvSpPr>
        <p:spPr>
          <a:xfrm>
            <a:off x="7328916" y="2697480"/>
            <a:ext cx="502920" cy="1051560"/>
          </a:xfrm>
          <a:prstGeom prst="rect">
            <a:avLst/>
          </a:prstGeom>
          <a:noFill/>
          <a:ln/>
        </p:spPr>
        <p:txBody>
          <a:bodyPr wrap="square" lIns="0" tIns="0" rIns="0" bIns="0" rtlCol="0" anchor="ctr"/>
          <a:lstStyle/>
          <a:p>
            <a:pPr algn="ctr" indent="0" marL="0">
              <a:buNone/>
            </a:pPr>
            <a:r>
              <a:rPr lang="en-US" sz="2600" dirty="0">
                <a:solidFill>
                  <a:srgbClr val="F2A541"/>
                </a:solidFill>
                <a:latin typeface="Calibri" pitchFamily="34" charset="0"/>
                <a:ea typeface="Calibri" pitchFamily="34" charset="-122"/>
                <a:cs typeface="Calibri" pitchFamily="34" charset="-120"/>
              </a:rPr>
              <a:t>→</a:t>
            </a:r>
            <a:endParaRPr lang="en-US" sz="2600" dirty="0"/>
          </a:p>
        </p:txBody>
      </p:sp>
      <p:sp>
        <p:nvSpPr>
          <p:cNvPr id="17" name="Shape 15"/>
          <p:cNvSpPr/>
          <p:nvPr/>
        </p:nvSpPr>
        <p:spPr>
          <a:xfrm>
            <a:off x="7831836" y="2697480"/>
            <a:ext cx="2468880" cy="1051560"/>
          </a:xfrm>
          <a:prstGeom prst="roundRect">
            <a:avLst>
              <a:gd name="adj" fmla="val 8696"/>
            </a:avLst>
          </a:prstGeom>
          <a:solidFill>
            <a:srgbClr val="2A2F55"/>
          </a:solidFill>
          <a:ln/>
          <a:effectLst>
            <a:outerShdw sx="100000" sy="100000" kx="0" ky="0" algn="bl" rotWithShape="0" blurRad="76200" dist="25400" dir="5400000">
              <a:srgbClr val="1E2340">
                <a:alpha val="18000"/>
              </a:srgbClr>
            </a:outerShdw>
          </a:effectLst>
        </p:spPr>
      </p:sp>
      <p:sp>
        <p:nvSpPr>
          <p:cNvPr id="18" name="Text 16"/>
          <p:cNvSpPr/>
          <p:nvPr/>
        </p:nvSpPr>
        <p:spPr>
          <a:xfrm>
            <a:off x="7831836" y="2807208"/>
            <a:ext cx="246888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All Clients</a:t>
            </a:r>
            <a:endParaRPr lang="en-US" sz="1500" dirty="0"/>
          </a:p>
        </p:txBody>
      </p:sp>
      <p:sp>
        <p:nvSpPr>
          <p:cNvPr id="19" name="Text 17"/>
          <p:cNvSpPr/>
          <p:nvPr/>
        </p:nvSpPr>
        <p:spPr>
          <a:xfrm>
            <a:off x="7968996" y="3136392"/>
            <a:ext cx="2194560" cy="548640"/>
          </a:xfrm>
          <a:prstGeom prst="rect">
            <a:avLst/>
          </a:prstGeom>
          <a:noFill/>
          <a:ln/>
        </p:spPr>
        <p:txBody>
          <a:bodyPr wrap="square" lIns="0" tIns="0" rIns="0" bIns="0" rtlCol="0" anchor="ctr"/>
          <a:lstStyle/>
          <a:p>
            <a:pPr algn="ctr" indent="0" marL="0">
              <a:lnSpc>
                <a:spcPct val="115000"/>
              </a:lnSpc>
              <a:buNone/>
            </a:pPr>
            <a:r>
              <a:rPr lang="en-US" sz="1050" dirty="0">
                <a:solidFill>
                  <a:srgbClr val="FFFFFF"/>
                </a:solidFill>
                <a:latin typeface="Calibri" pitchFamily="34" charset="0"/>
                <a:ea typeface="Calibri" pitchFamily="34" charset="-122"/>
                <a:cs typeface="Calibri" pitchFamily="34" charset="-120"/>
              </a:rPr>
              <a:t>Receive the verified,</a:t>
            </a:r>
            <a:endParaRPr lang="en-US" sz="1050" dirty="0"/>
          </a:p>
          <a:p>
            <a:pPr algn="ctr" indent="0" marL="0">
              <a:lnSpc>
                <a:spcPct val="115000"/>
              </a:lnSpc>
              <a:buNone/>
            </a:pPr>
            <a:r>
              <a:rPr lang="en-US" sz="1050" dirty="0">
                <a:solidFill>
                  <a:srgbClr val="FFFFFF"/>
                </a:solidFill>
                <a:latin typeface="Calibri" pitchFamily="34" charset="0"/>
                <a:ea typeface="Calibri" pitchFamily="34" charset="-122"/>
                <a:cs typeface="Calibri" pitchFamily="34" charset="-120"/>
              </a:rPr>
              <a:t>broadcast update</a:t>
            </a:r>
            <a:endParaRPr lang="en-US" sz="1050" dirty="0"/>
          </a:p>
        </p:txBody>
      </p:sp>
      <p:sp>
        <p:nvSpPr>
          <p:cNvPr id="20" name="Shape 18"/>
          <p:cNvSpPr/>
          <p:nvPr/>
        </p:nvSpPr>
        <p:spPr>
          <a:xfrm>
            <a:off x="548640" y="4206240"/>
            <a:ext cx="457200" cy="457200"/>
          </a:xfrm>
          <a:prstGeom prst="ellipse">
            <a:avLst/>
          </a:prstGeom>
          <a:solidFill>
            <a:srgbClr val="E6F4F3"/>
          </a:solidFill>
          <a:ln/>
        </p:spPr>
      </p:sp>
      <p:sp>
        <p:nvSpPr>
          <p:cNvPr id="21" name="Text 19"/>
          <p:cNvSpPr/>
          <p:nvPr/>
        </p:nvSpPr>
        <p:spPr>
          <a:xfrm>
            <a:off x="548640" y="4206240"/>
            <a:ext cx="457200" cy="457200"/>
          </a:xfrm>
          <a:prstGeom prst="rect">
            <a:avLst/>
          </a:prstGeom>
          <a:noFill/>
          <a:ln/>
        </p:spPr>
        <p:txBody>
          <a:bodyPr wrap="square" lIns="0" tIns="0" rIns="0" bIns="0" rtlCol="0" anchor="ctr"/>
          <a:lstStyle/>
          <a:p>
            <a:pPr algn="ctr" indent="0" marL="0">
              <a:buNone/>
            </a:pPr>
            <a:r>
              <a:rPr lang="en-US" sz="1300" dirty="0">
                <a:solidFill>
                  <a:srgbClr val="0E7C7B"/>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548640" y="4754880"/>
            <a:ext cx="2606040" cy="685800"/>
          </a:xfrm>
          <a:prstGeom prst="rect">
            <a:avLst/>
          </a:prstGeom>
          <a:noFill/>
          <a:ln/>
        </p:spPr>
        <p:txBody>
          <a:bodyPr wrap="square" lIns="0" tIns="0" rIns="0" bIns="0" rtlCol="0" anchor="ctr"/>
          <a:lstStyle/>
          <a:p>
            <a:pPr algn="ctr" indent="0" marL="0">
              <a:lnSpc>
                <a:spcPct val="115000"/>
              </a:lnSpc>
              <a:buNone/>
            </a:pPr>
            <a:r>
              <a:rPr lang="en-US" sz="1150" dirty="0">
                <a:solidFill>
                  <a:srgbClr val="1E2340"/>
                </a:solidFill>
                <a:latin typeface="Calibri" pitchFamily="34" charset="0"/>
                <a:ea typeface="Calibri" pitchFamily="34" charset="-122"/>
                <a:cs typeface="Calibri" pitchFamily="34" charset="-120"/>
              </a:rPr>
              <a:t>Prevents unauthorized changes</a:t>
            </a:r>
            <a:endParaRPr lang="en-US" sz="1150" dirty="0"/>
          </a:p>
        </p:txBody>
      </p:sp>
      <p:sp>
        <p:nvSpPr>
          <p:cNvPr id="23" name="Shape 21"/>
          <p:cNvSpPr/>
          <p:nvPr/>
        </p:nvSpPr>
        <p:spPr>
          <a:xfrm>
            <a:off x="3337560" y="4206240"/>
            <a:ext cx="457200" cy="457200"/>
          </a:xfrm>
          <a:prstGeom prst="ellipse">
            <a:avLst/>
          </a:prstGeom>
          <a:solidFill>
            <a:srgbClr val="E6F4F3"/>
          </a:solidFill>
          <a:ln/>
        </p:spPr>
      </p:sp>
      <p:sp>
        <p:nvSpPr>
          <p:cNvPr id="24" name="Text 22"/>
          <p:cNvSpPr/>
          <p:nvPr/>
        </p:nvSpPr>
        <p:spPr>
          <a:xfrm>
            <a:off x="3337560" y="4206240"/>
            <a:ext cx="457200" cy="457200"/>
          </a:xfrm>
          <a:prstGeom prst="rect">
            <a:avLst/>
          </a:prstGeom>
          <a:noFill/>
          <a:ln/>
        </p:spPr>
        <p:txBody>
          <a:bodyPr wrap="square" lIns="0" tIns="0" rIns="0" bIns="0" rtlCol="0" anchor="ctr"/>
          <a:lstStyle/>
          <a:p>
            <a:pPr algn="ctr" indent="0" marL="0">
              <a:buNone/>
            </a:pPr>
            <a:r>
              <a:rPr lang="en-US" sz="1300" dirty="0">
                <a:solidFill>
                  <a:srgbClr val="0E7C7B"/>
                </a:solidFill>
                <a:latin typeface="Calibri" pitchFamily="34" charset="0"/>
                <a:ea typeface="Calibri" pitchFamily="34" charset="-122"/>
                <a:cs typeface="Calibri" pitchFamily="34" charset="-120"/>
              </a:rPr>
              <a:t>✓</a:t>
            </a:r>
            <a:endParaRPr lang="en-US" sz="1300" dirty="0"/>
          </a:p>
        </p:txBody>
      </p:sp>
      <p:sp>
        <p:nvSpPr>
          <p:cNvPr id="25" name="Text 23"/>
          <p:cNvSpPr/>
          <p:nvPr/>
        </p:nvSpPr>
        <p:spPr>
          <a:xfrm>
            <a:off x="3337560" y="4754880"/>
            <a:ext cx="2606040" cy="685800"/>
          </a:xfrm>
          <a:prstGeom prst="rect">
            <a:avLst/>
          </a:prstGeom>
          <a:noFill/>
          <a:ln/>
        </p:spPr>
        <p:txBody>
          <a:bodyPr wrap="square" lIns="0" tIns="0" rIns="0" bIns="0" rtlCol="0" anchor="ctr"/>
          <a:lstStyle/>
          <a:p>
            <a:pPr algn="ctr" indent="0" marL="0">
              <a:lnSpc>
                <a:spcPct val="115000"/>
              </a:lnSpc>
              <a:buNone/>
            </a:pPr>
            <a:r>
              <a:rPr lang="en-US" sz="1150" dirty="0">
                <a:solidFill>
                  <a:srgbClr val="1E2340"/>
                </a:solidFill>
                <a:latin typeface="Calibri" pitchFamily="34" charset="0"/>
                <a:ea typeface="Calibri" pitchFamily="34" charset="-122"/>
                <a:cs typeface="Calibri" pitchFamily="34" charset="-120"/>
              </a:rPr>
              <a:t>Eliminates inconsistent states</a:t>
            </a:r>
            <a:endParaRPr lang="en-US" sz="1150" dirty="0"/>
          </a:p>
        </p:txBody>
      </p:sp>
      <p:sp>
        <p:nvSpPr>
          <p:cNvPr id="26" name="Shape 24"/>
          <p:cNvSpPr/>
          <p:nvPr/>
        </p:nvSpPr>
        <p:spPr>
          <a:xfrm>
            <a:off x="6126480" y="4206240"/>
            <a:ext cx="457200" cy="457200"/>
          </a:xfrm>
          <a:prstGeom prst="ellipse">
            <a:avLst/>
          </a:prstGeom>
          <a:solidFill>
            <a:srgbClr val="E6F4F3"/>
          </a:solidFill>
          <a:ln/>
        </p:spPr>
      </p:sp>
      <p:sp>
        <p:nvSpPr>
          <p:cNvPr id="27" name="Text 25"/>
          <p:cNvSpPr/>
          <p:nvPr/>
        </p:nvSpPr>
        <p:spPr>
          <a:xfrm>
            <a:off x="6126480" y="4206240"/>
            <a:ext cx="457200" cy="457200"/>
          </a:xfrm>
          <a:prstGeom prst="rect">
            <a:avLst/>
          </a:prstGeom>
          <a:noFill/>
          <a:ln/>
        </p:spPr>
        <p:txBody>
          <a:bodyPr wrap="square" lIns="0" tIns="0" rIns="0" bIns="0" rtlCol="0" anchor="ctr"/>
          <a:lstStyle/>
          <a:p>
            <a:pPr algn="ctr" indent="0" marL="0">
              <a:buNone/>
            </a:pPr>
            <a:r>
              <a:rPr lang="en-US" sz="1300" dirty="0">
                <a:solidFill>
                  <a:srgbClr val="0E7C7B"/>
                </a:solidFill>
                <a:latin typeface="Calibri" pitchFamily="34" charset="0"/>
                <a:ea typeface="Calibri" pitchFamily="34" charset="-122"/>
                <a:cs typeface="Calibri" pitchFamily="34" charset="-120"/>
              </a:rPr>
              <a:t>✓</a:t>
            </a:r>
            <a:endParaRPr lang="en-US" sz="1300" dirty="0"/>
          </a:p>
        </p:txBody>
      </p:sp>
      <p:sp>
        <p:nvSpPr>
          <p:cNvPr id="28" name="Text 26"/>
          <p:cNvSpPr/>
          <p:nvPr/>
        </p:nvSpPr>
        <p:spPr>
          <a:xfrm>
            <a:off x="6126480" y="4754880"/>
            <a:ext cx="2606040" cy="685800"/>
          </a:xfrm>
          <a:prstGeom prst="rect">
            <a:avLst/>
          </a:prstGeom>
          <a:noFill/>
          <a:ln/>
        </p:spPr>
        <p:txBody>
          <a:bodyPr wrap="square" lIns="0" tIns="0" rIns="0" bIns="0" rtlCol="0" anchor="ctr"/>
          <a:lstStyle/>
          <a:p>
            <a:pPr algn="ctr" indent="0" marL="0">
              <a:lnSpc>
                <a:spcPct val="115000"/>
              </a:lnSpc>
              <a:buNone/>
            </a:pPr>
            <a:r>
              <a:rPr lang="en-US" sz="1150" dirty="0">
                <a:solidFill>
                  <a:srgbClr val="1E2340"/>
                </a:solidFill>
                <a:latin typeface="Calibri" pitchFamily="34" charset="0"/>
                <a:ea typeface="Calibri" pitchFamily="34" charset="-122"/>
                <a:cs typeface="Calibri" pitchFamily="34" charset="-120"/>
              </a:rPr>
              <a:t>Ensures fairness for all players</a:t>
            </a:r>
            <a:endParaRPr lang="en-US" sz="1150" dirty="0"/>
          </a:p>
        </p:txBody>
      </p:sp>
      <p:sp>
        <p:nvSpPr>
          <p:cNvPr id="29" name="Shape 27"/>
          <p:cNvSpPr/>
          <p:nvPr/>
        </p:nvSpPr>
        <p:spPr>
          <a:xfrm>
            <a:off x="8915400" y="4206240"/>
            <a:ext cx="457200" cy="457200"/>
          </a:xfrm>
          <a:prstGeom prst="ellipse">
            <a:avLst/>
          </a:prstGeom>
          <a:solidFill>
            <a:srgbClr val="E6F4F3"/>
          </a:solidFill>
          <a:ln/>
        </p:spPr>
      </p:sp>
      <p:sp>
        <p:nvSpPr>
          <p:cNvPr id="30" name="Text 28"/>
          <p:cNvSpPr/>
          <p:nvPr/>
        </p:nvSpPr>
        <p:spPr>
          <a:xfrm>
            <a:off x="8915400" y="4206240"/>
            <a:ext cx="457200" cy="457200"/>
          </a:xfrm>
          <a:prstGeom prst="rect">
            <a:avLst/>
          </a:prstGeom>
          <a:noFill/>
          <a:ln/>
        </p:spPr>
        <p:txBody>
          <a:bodyPr wrap="square" lIns="0" tIns="0" rIns="0" bIns="0" rtlCol="0" anchor="ctr"/>
          <a:lstStyle/>
          <a:p>
            <a:pPr algn="ctr" indent="0" marL="0">
              <a:buNone/>
            </a:pPr>
            <a:r>
              <a:rPr lang="en-US" sz="1300" dirty="0">
                <a:solidFill>
                  <a:srgbClr val="0E7C7B"/>
                </a:solidFill>
                <a:latin typeface="Calibri" pitchFamily="34" charset="0"/>
                <a:ea typeface="Calibri" pitchFamily="34" charset="-122"/>
                <a:cs typeface="Calibri" pitchFamily="34" charset="-120"/>
              </a:rPr>
              <a:t>✓</a:t>
            </a:r>
            <a:endParaRPr lang="en-US" sz="1300" dirty="0"/>
          </a:p>
        </p:txBody>
      </p:sp>
      <p:sp>
        <p:nvSpPr>
          <p:cNvPr id="31" name="Text 29"/>
          <p:cNvSpPr/>
          <p:nvPr/>
        </p:nvSpPr>
        <p:spPr>
          <a:xfrm>
            <a:off x="8915400" y="4754880"/>
            <a:ext cx="2606040" cy="685800"/>
          </a:xfrm>
          <a:prstGeom prst="rect">
            <a:avLst/>
          </a:prstGeom>
          <a:noFill/>
          <a:ln/>
        </p:spPr>
        <p:txBody>
          <a:bodyPr wrap="square" lIns="0" tIns="0" rIns="0" bIns="0" rtlCol="0" anchor="ctr"/>
          <a:lstStyle/>
          <a:p>
            <a:pPr algn="ctr" indent="0" marL="0">
              <a:lnSpc>
                <a:spcPct val="115000"/>
              </a:lnSpc>
              <a:buNone/>
            </a:pPr>
            <a:r>
              <a:rPr lang="en-US" sz="1150" dirty="0">
                <a:solidFill>
                  <a:srgbClr val="1E2340"/>
                </a:solidFill>
                <a:latin typeface="Calibri" pitchFamily="34" charset="0"/>
                <a:ea typeface="Calibri" pitchFamily="34" charset="-122"/>
                <a:cs typeface="Calibri" pitchFamily="34" charset="-120"/>
              </a:rPr>
              <a:t>Simplifies synchronization</a:t>
            </a:r>
            <a:endParaRPr lang="en-US" sz="1150" dirty="0"/>
          </a:p>
        </p:txBody>
      </p:sp>
      <p:sp>
        <p:nvSpPr>
          <p:cNvPr id="32" name="Text 30"/>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CSE299 Project Proposal  |  Literature Review</a:t>
            </a:r>
            <a:endParaRPr lang="en-US" sz="1000" dirty="0"/>
          </a:p>
        </p:txBody>
      </p:sp>
      <p:sp>
        <p:nvSpPr>
          <p:cNvPr id="33" name="Text 31"/>
          <p:cNvSpPr/>
          <p:nvPr/>
        </p:nvSpPr>
        <p:spPr>
          <a:xfrm>
            <a:off x="11365992"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300" b="1" spc="200" kern="0" dirty="0">
                <a:solidFill>
                  <a:srgbClr val="0E7C7B"/>
                </a:solidFill>
                <a:latin typeface="Calibri" pitchFamily="34" charset="0"/>
                <a:ea typeface="Calibri" pitchFamily="34" charset="-122"/>
                <a:cs typeface="Calibri" pitchFamily="34" charset="-120"/>
              </a:rPr>
              <a:t>2.4 TECHNOLOGY STACK</a:t>
            </a:r>
            <a:endParaRPr lang="en-US" sz="1300" dirty="0"/>
          </a:p>
        </p:txBody>
      </p:sp>
      <p:sp>
        <p:nvSpPr>
          <p:cNvPr id="3" name="Text 1"/>
          <p:cNvSpPr/>
          <p:nvPr/>
        </p:nvSpPr>
        <p:spPr>
          <a:xfrm>
            <a:off x="548640" y="713232"/>
            <a:ext cx="10607040" cy="685800"/>
          </a:xfrm>
          <a:prstGeom prst="rect">
            <a:avLst/>
          </a:prstGeom>
          <a:noFill/>
          <a:ln/>
        </p:spPr>
        <p:txBody>
          <a:bodyPr wrap="square" lIns="0" tIns="0" rIns="0" bIns="0" rtlCol="0" anchor="ctr"/>
          <a:lstStyle/>
          <a:p>
            <a:pPr indent="0" marL="0">
              <a:buNone/>
            </a:pPr>
            <a:r>
              <a:rPr lang="en-US" sz="3000" b="1" dirty="0">
                <a:solidFill>
                  <a:srgbClr val="1E2340"/>
                </a:solidFill>
                <a:latin typeface="Cambria" pitchFamily="34" charset="0"/>
                <a:ea typeface="Cambria" pitchFamily="34" charset="-122"/>
                <a:cs typeface="Cambria" pitchFamily="34" charset="-120"/>
              </a:rPr>
              <a:t>Browser-Based Gaming Technologies</a:t>
            </a:r>
            <a:endParaRPr lang="en-US" sz="3000" dirty="0"/>
          </a:p>
        </p:txBody>
      </p:sp>
      <p:sp>
        <p:nvSpPr>
          <p:cNvPr id="4" name="Shape 2"/>
          <p:cNvSpPr/>
          <p:nvPr/>
        </p:nvSpPr>
        <p:spPr>
          <a:xfrm>
            <a:off x="11109960" y="502920"/>
            <a:ext cx="164592" cy="164592"/>
          </a:xfrm>
          <a:prstGeom prst="ellipse">
            <a:avLst/>
          </a:prstGeom>
          <a:solidFill>
            <a:srgbClr val="D62828"/>
          </a:solidFill>
          <a:ln/>
        </p:spPr>
      </p:sp>
      <p:sp>
        <p:nvSpPr>
          <p:cNvPr id="5" name="Shape 3"/>
          <p:cNvSpPr/>
          <p:nvPr/>
        </p:nvSpPr>
        <p:spPr>
          <a:xfrm>
            <a:off x="11329416" y="502920"/>
            <a:ext cx="164592" cy="164592"/>
          </a:xfrm>
          <a:prstGeom prst="ellipse">
            <a:avLst/>
          </a:prstGeom>
          <a:solidFill>
            <a:srgbClr val="2A9D8F"/>
          </a:solidFill>
          <a:ln/>
        </p:spPr>
      </p:sp>
      <p:sp>
        <p:nvSpPr>
          <p:cNvPr id="6" name="Shape 4"/>
          <p:cNvSpPr/>
          <p:nvPr/>
        </p:nvSpPr>
        <p:spPr>
          <a:xfrm>
            <a:off x="11548872" y="502920"/>
            <a:ext cx="164592" cy="164592"/>
          </a:xfrm>
          <a:prstGeom prst="ellipse">
            <a:avLst/>
          </a:prstGeom>
          <a:solidFill>
            <a:srgbClr val="E9C46A"/>
          </a:solidFill>
          <a:ln/>
        </p:spPr>
      </p:sp>
      <p:sp>
        <p:nvSpPr>
          <p:cNvPr id="7" name="Shape 5"/>
          <p:cNvSpPr/>
          <p:nvPr/>
        </p:nvSpPr>
        <p:spPr>
          <a:xfrm>
            <a:off x="11768328" y="502920"/>
            <a:ext cx="164592" cy="164592"/>
          </a:xfrm>
          <a:prstGeom prst="ellipse">
            <a:avLst/>
          </a:prstGeom>
          <a:solidFill>
            <a:srgbClr val="277DA1"/>
          </a:solidFill>
          <a:ln/>
        </p:spPr>
      </p:sp>
      <p:sp>
        <p:nvSpPr>
          <p:cNvPr id="8" name="Text 6"/>
          <p:cNvSpPr/>
          <p:nvPr/>
        </p:nvSpPr>
        <p:spPr>
          <a:xfrm>
            <a:off x="548640" y="1645920"/>
            <a:ext cx="10698480" cy="502920"/>
          </a:xfrm>
          <a:prstGeom prst="rect">
            <a:avLst/>
          </a:prstGeom>
          <a:noFill/>
          <a:ln/>
        </p:spPr>
        <p:txBody>
          <a:bodyPr wrap="square" lIns="0" tIns="0" rIns="0" bIns="0" rtlCol="0" anchor="ctr"/>
          <a:lstStyle/>
          <a:p>
            <a:pPr indent="0" marL="0">
              <a:lnSpc>
                <a:spcPct val="130000"/>
              </a:lnSpc>
              <a:buNone/>
            </a:pPr>
            <a:r>
              <a:rPr lang="en-US" sz="1500" dirty="0">
                <a:solidFill>
                  <a:srgbClr val="1E2340"/>
                </a:solidFill>
                <a:latin typeface="Calibri" pitchFamily="34" charset="0"/>
                <a:ea typeface="Calibri" pitchFamily="34" charset="-122"/>
                <a:cs typeface="Calibri" pitchFamily="34" charset="-120"/>
              </a:rPr>
              <a:t>Advances in HTML5, CSS3, JavaScript, and modern frameworks have turned the browser into a capable real-time gaming platform.</a:t>
            </a:r>
            <a:endParaRPr lang="en-US" sz="1500" dirty="0"/>
          </a:p>
        </p:txBody>
      </p:sp>
      <p:sp>
        <p:nvSpPr>
          <p:cNvPr id="9" name="Shape 7"/>
          <p:cNvSpPr/>
          <p:nvPr/>
        </p:nvSpPr>
        <p:spPr>
          <a:xfrm>
            <a:off x="448056" y="2377440"/>
            <a:ext cx="2651760" cy="3383280"/>
          </a:xfrm>
          <a:prstGeom prst="roundRect">
            <a:avLst>
              <a:gd name="adj" fmla="val 2759"/>
            </a:avLst>
          </a:prstGeom>
          <a:solidFill>
            <a:srgbClr val="FFFFFF"/>
          </a:solidFill>
          <a:ln/>
          <a:effectLst>
            <a:outerShdw sx="100000" sy="100000" kx="0" ky="0" algn="bl" rotWithShape="0" blurRad="76200" dist="25400" dir="5400000">
              <a:srgbClr val="1E2340">
                <a:alpha val="12000"/>
              </a:srgbClr>
            </a:outerShdw>
          </a:effectLst>
        </p:spPr>
      </p:sp>
      <p:sp>
        <p:nvSpPr>
          <p:cNvPr id="10" name="Shape 8"/>
          <p:cNvSpPr/>
          <p:nvPr/>
        </p:nvSpPr>
        <p:spPr>
          <a:xfrm>
            <a:off x="1362456" y="2697480"/>
            <a:ext cx="822960" cy="822960"/>
          </a:xfrm>
          <a:prstGeom prst="ellipse">
            <a:avLst/>
          </a:prstGeom>
          <a:solidFill>
            <a:srgbClr val="0E7C7B"/>
          </a:solidFill>
          <a:ln/>
        </p:spPr>
      </p:sp>
      <p:sp>
        <p:nvSpPr>
          <p:cNvPr id="11" name="Text 9"/>
          <p:cNvSpPr/>
          <p:nvPr/>
        </p:nvSpPr>
        <p:spPr>
          <a:xfrm>
            <a:off x="1362456" y="2697480"/>
            <a:ext cx="822960" cy="822960"/>
          </a:xfrm>
          <a:prstGeom prst="rect">
            <a:avLst/>
          </a:prstGeom>
          <a:noFill/>
          <a:ln/>
        </p:spPr>
        <p:txBody>
          <a:bodyPr wrap="square" lIns="0" tIns="0" rIns="0" bIns="0" rtlCol="0" anchor="ctr"/>
          <a:lstStyle/>
          <a:p>
            <a:pPr algn="ctr" indent="0" marL="0">
              <a:buNone/>
            </a:pPr>
            <a:r>
              <a:rPr lang="en-US" sz="2340" dirty="0">
                <a:solidFill>
                  <a:srgbClr val="FFFFFF"/>
                </a:solidFill>
                <a:latin typeface="Calibri" pitchFamily="34" charset="0"/>
                <a:ea typeface="Calibri" pitchFamily="34" charset="-122"/>
                <a:cs typeface="Calibri" pitchFamily="34" charset="-120"/>
              </a:rPr>
              <a:t>⚛</a:t>
            </a:r>
            <a:endParaRPr lang="en-US" sz="2340" dirty="0"/>
          </a:p>
        </p:txBody>
      </p:sp>
      <p:sp>
        <p:nvSpPr>
          <p:cNvPr id="12" name="Text 10"/>
          <p:cNvSpPr/>
          <p:nvPr/>
        </p:nvSpPr>
        <p:spPr>
          <a:xfrm>
            <a:off x="585216" y="3703320"/>
            <a:ext cx="2377440" cy="365760"/>
          </a:xfrm>
          <a:prstGeom prst="rect">
            <a:avLst/>
          </a:prstGeom>
          <a:noFill/>
          <a:ln/>
        </p:spPr>
        <p:txBody>
          <a:bodyPr wrap="square" lIns="0" tIns="0" rIns="0" bIns="0" rtlCol="0" anchor="ctr"/>
          <a:lstStyle/>
          <a:p>
            <a:pPr algn="ctr" indent="0" marL="0">
              <a:buNone/>
            </a:pPr>
            <a:r>
              <a:rPr lang="en-US" sz="1600" b="1" dirty="0">
                <a:solidFill>
                  <a:srgbClr val="1E2340"/>
                </a:solidFill>
                <a:latin typeface="Cambria" pitchFamily="34" charset="0"/>
                <a:ea typeface="Cambria" pitchFamily="34" charset="-122"/>
                <a:cs typeface="Cambria" pitchFamily="34" charset="-120"/>
              </a:rPr>
              <a:t>React.js</a:t>
            </a:r>
            <a:endParaRPr lang="en-US" sz="1600" dirty="0"/>
          </a:p>
        </p:txBody>
      </p:sp>
      <p:sp>
        <p:nvSpPr>
          <p:cNvPr id="13" name="Text 11"/>
          <p:cNvSpPr/>
          <p:nvPr/>
        </p:nvSpPr>
        <p:spPr>
          <a:xfrm>
            <a:off x="585216" y="4069080"/>
            <a:ext cx="2377440" cy="274320"/>
          </a:xfrm>
          <a:prstGeom prst="rect">
            <a:avLst/>
          </a:prstGeom>
          <a:noFill/>
          <a:ln/>
        </p:spPr>
        <p:txBody>
          <a:bodyPr wrap="square" lIns="0" tIns="0" rIns="0" bIns="0" rtlCol="0" anchor="ctr"/>
          <a:lstStyle/>
          <a:p>
            <a:pPr algn="ctr" indent="0" marL="0">
              <a:buNone/>
            </a:pPr>
            <a:r>
              <a:rPr lang="en-US" sz="1000" b="1" spc="100" kern="0" dirty="0">
                <a:solidFill>
                  <a:srgbClr val="F2A541"/>
                </a:solidFill>
                <a:latin typeface="Calibri" pitchFamily="34" charset="0"/>
                <a:ea typeface="Calibri" pitchFamily="34" charset="-122"/>
                <a:cs typeface="Calibri" pitchFamily="34" charset="-120"/>
              </a:rPr>
              <a:t>FRONTEND</a:t>
            </a:r>
            <a:endParaRPr lang="en-US" sz="1000" dirty="0"/>
          </a:p>
        </p:txBody>
      </p:sp>
      <p:sp>
        <p:nvSpPr>
          <p:cNvPr id="14" name="Text 12"/>
          <p:cNvSpPr/>
          <p:nvPr/>
        </p:nvSpPr>
        <p:spPr>
          <a:xfrm>
            <a:off x="649224" y="4434840"/>
            <a:ext cx="2249424" cy="1188720"/>
          </a:xfrm>
          <a:prstGeom prst="rect">
            <a:avLst/>
          </a:prstGeom>
          <a:noFill/>
          <a:ln/>
        </p:spPr>
        <p:txBody>
          <a:bodyPr wrap="square" lIns="0" tIns="0" rIns="0" bIns="0" rtlCol="0" anchor="ctr"/>
          <a:lstStyle/>
          <a:p>
            <a:pPr algn="ctr" indent="0" marL="0">
              <a:lnSpc>
                <a:spcPct val="125000"/>
              </a:lnSpc>
              <a:buNone/>
            </a:pPr>
            <a:r>
              <a:rPr lang="en-US" sz="1100" dirty="0">
                <a:solidFill>
                  <a:srgbClr val="6B7280"/>
                </a:solidFill>
                <a:latin typeface="Calibri" pitchFamily="34" charset="0"/>
                <a:ea typeface="Calibri" pitchFamily="34" charset="-122"/>
                <a:cs typeface="Calibri" pitchFamily="34" charset="-120"/>
              </a:rPr>
              <a:t>Reusable UI components; updates only what changes on screen</a:t>
            </a:r>
            <a:endParaRPr lang="en-US" sz="1100" dirty="0"/>
          </a:p>
        </p:txBody>
      </p:sp>
      <p:sp>
        <p:nvSpPr>
          <p:cNvPr id="15" name="Shape 13"/>
          <p:cNvSpPr/>
          <p:nvPr/>
        </p:nvSpPr>
        <p:spPr>
          <a:xfrm>
            <a:off x="3328416" y="2377440"/>
            <a:ext cx="2651760" cy="3383280"/>
          </a:xfrm>
          <a:prstGeom prst="roundRect">
            <a:avLst>
              <a:gd name="adj" fmla="val 2759"/>
            </a:avLst>
          </a:prstGeom>
          <a:solidFill>
            <a:srgbClr val="FFFFFF"/>
          </a:solidFill>
          <a:ln/>
          <a:effectLst>
            <a:outerShdw sx="100000" sy="100000" kx="0" ky="0" algn="bl" rotWithShape="0" blurRad="76200" dist="25400" dir="5400000">
              <a:srgbClr val="1E2340">
                <a:alpha val="12000"/>
              </a:srgbClr>
            </a:outerShdw>
          </a:effectLst>
        </p:spPr>
      </p:sp>
      <p:sp>
        <p:nvSpPr>
          <p:cNvPr id="16" name="Shape 14"/>
          <p:cNvSpPr/>
          <p:nvPr/>
        </p:nvSpPr>
        <p:spPr>
          <a:xfrm>
            <a:off x="4242816" y="2697480"/>
            <a:ext cx="822960" cy="822960"/>
          </a:xfrm>
          <a:prstGeom prst="ellipse">
            <a:avLst/>
          </a:prstGeom>
          <a:solidFill>
            <a:srgbClr val="1E2340"/>
          </a:solidFill>
          <a:ln/>
        </p:spPr>
      </p:sp>
      <p:sp>
        <p:nvSpPr>
          <p:cNvPr id="17" name="Text 15"/>
          <p:cNvSpPr/>
          <p:nvPr/>
        </p:nvSpPr>
        <p:spPr>
          <a:xfrm>
            <a:off x="4242816" y="2697480"/>
            <a:ext cx="822960" cy="822960"/>
          </a:xfrm>
          <a:prstGeom prst="rect">
            <a:avLst/>
          </a:prstGeom>
          <a:noFill/>
          <a:ln/>
        </p:spPr>
        <p:txBody>
          <a:bodyPr wrap="square" lIns="0" tIns="0" rIns="0" bIns="0" rtlCol="0" anchor="ctr"/>
          <a:lstStyle/>
          <a:p>
            <a:pPr algn="ctr" indent="0" marL="0">
              <a:buNone/>
            </a:pPr>
            <a:r>
              <a:rPr lang="en-US" sz="2340" dirty="0">
                <a:solidFill>
                  <a:srgbClr val="FFFFFF"/>
                </a:solidFill>
                <a:latin typeface="Calibri" pitchFamily="34" charset="0"/>
                <a:ea typeface="Calibri" pitchFamily="34" charset="-122"/>
                <a:cs typeface="Calibri" pitchFamily="34" charset="-120"/>
              </a:rPr>
              <a:t>▦</a:t>
            </a:r>
            <a:endParaRPr lang="en-US" sz="2340" dirty="0"/>
          </a:p>
        </p:txBody>
      </p:sp>
      <p:sp>
        <p:nvSpPr>
          <p:cNvPr id="18" name="Text 16"/>
          <p:cNvSpPr/>
          <p:nvPr/>
        </p:nvSpPr>
        <p:spPr>
          <a:xfrm>
            <a:off x="3465576" y="3703320"/>
            <a:ext cx="2377440" cy="365760"/>
          </a:xfrm>
          <a:prstGeom prst="rect">
            <a:avLst/>
          </a:prstGeom>
          <a:noFill/>
          <a:ln/>
        </p:spPr>
        <p:txBody>
          <a:bodyPr wrap="square" lIns="0" tIns="0" rIns="0" bIns="0" rtlCol="0" anchor="ctr"/>
          <a:lstStyle/>
          <a:p>
            <a:pPr algn="ctr" indent="0" marL="0">
              <a:buNone/>
            </a:pPr>
            <a:r>
              <a:rPr lang="en-US" sz="1600" b="1" dirty="0">
                <a:solidFill>
                  <a:srgbClr val="1E2340"/>
                </a:solidFill>
                <a:latin typeface="Cambria" pitchFamily="34" charset="0"/>
                <a:ea typeface="Cambria" pitchFamily="34" charset="-122"/>
                <a:cs typeface="Cambria" pitchFamily="34" charset="-120"/>
              </a:rPr>
              <a:t>Tailwind CSS</a:t>
            </a:r>
            <a:endParaRPr lang="en-US" sz="1600" dirty="0"/>
          </a:p>
        </p:txBody>
      </p:sp>
      <p:sp>
        <p:nvSpPr>
          <p:cNvPr id="19" name="Text 17"/>
          <p:cNvSpPr/>
          <p:nvPr/>
        </p:nvSpPr>
        <p:spPr>
          <a:xfrm>
            <a:off x="3465576" y="4069080"/>
            <a:ext cx="2377440" cy="274320"/>
          </a:xfrm>
          <a:prstGeom prst="rect">
            <a:avLst/>
          </a:prstGeom>
          <a:noFill/>
          <a:ln/>
        </p:spPr>
        <p:txBody>
          <a:bodyPr wrap="square" lIns="0" tIns="0" rIns="0" bIns="0" rtlCol="0" anchor="ctr"/>
          <a:lstStyle/>
          <a:p>
            <a:pPr algn="ctr" indent="0" marL="0">
              <a:buNone/>
            </a:pPr>
            <a:r>
              <a:rPr lang="en-US" sz="1000" b="1" spc="100" kern="0" dirty="0">
                <a:solidFill>
                  <a:srgbClr val="F2A541"/>
                </a:solidFill>
                <a:latin typeface="Calibri" pitchFamily="34" charset="0"/>
                <a:ea typeface="Calibri" pitchFamily="34" charset="-122"/>
                <a:cs typeface="Calibri" pitchFamily="34" charset="-120"/>
              </a:rPr>
              <a:t>STYLING</a:t>
            </a:r>
            <a:endParaRPr lang="en-US" sz="1000" dirty="0"/>
          </a:p>
        </p:txBody>
      </p:sp>
      <p:sp>
        <p:nvSpPr>
          <p:cNvPr id="20" name="Text 18"/>
          <p:cNvSpPr/>
          <p:nvPr/>
        </p:nvSpPr>
        <p:spPr>
          <a:xfrm>
            <a:off x="3529584" y="4434840"/>
            <a:ext cx="2249424" cy="1188720"/>
          </a:xfrm>
          <a:prstGeom prst="rect">
            <a:avLst/>
          </a:prstGeom>
          <a:noFill/>
          <a:ln/>
        </p:spPr>
        <p:txBody>
          <a:bodyPr wrap="square" lIns="0" tIns="0" rIns="0" bIns="0" rtlCol="0" anchor="ctr"/>
          <a:lstStyle/>
          <a:p>
            <a:pPr algn="ctr" indent="0" marL="0">
              <a:lnSpc>
                <a:spcPct val="125000"/>
              </a:lnSpc>
              <a:buNone/>
            </a:pPr>
            <a:r>
              <a:rPr lang="en-US" sz="1100" dirty="0">
                <a:solidFill>
                  <a:srgbClr val="6B7280"/>
                </a:solidFill>
                <a:latin typeface="Calibri" pitchFamily="34" charset="0"/>
                <a:ea typeface="Calibri" pitchFamily="34" charset="-122"/>
                <a:cs typeface="Calibri" pitchFamily="34" charset="-120"/>
              </a:rPr>
              <a:t>Rapid, responsive interfaces across screen sizes</a:t>
            </a:r>
            <a:endParaRPr lang="en-US" sz="1100" dirty="0"/>
          </a:p>
        </p:txBody>
      </p:sp>
      <p:sp>
        <p:nvSpPr>
          <p:cNvPr id="21" name="Shape 19"/>
          <p:cNvSpPr/>
          <p:nvPr/>
        </p:nvSpPr>
        <p:spPr>
          <a:xfrm>
            <a:off x="6208776" y="2377440"/>
            <a:ext cx="2651760" cy="3383280"/>
          </a:xfrm>
          <a:prstGeom prst="roundRect">
            <a:avLst>
              <a:gd name="adj" fmla="val 2759"/>
            </a:avLst>
          </a:prstGeom>
          <a:solidFill>
            <a:srgbClr val="FFFFFF"/>
          </a:solidFill>
          <a:ln/>
          <a:effectLst>
            <a:outerShdw sx="100000" sy="100000" kx="0" ky="0" algn="bl" rotWithShape="0" blurRad="76200" dist="25400" dir="5400000">
              <a:srgbClr val="1E2340">
                <a:alpha val="12000"/>
              </a:srgbClr>
            </a:outerShdw>
          </a:effectLst>
        </p:spPr>
      </p:sp>
      <p:sp>
        <p:nvSpPr>
          <p:cNvPr id="22" name="Shape 20"/>
          <p:cNvSpPr/>
          <p:nvPr/>
        </p:nvSpPr>
        <p:spPr>
          <a:xfrm>
            <a:off x="7123176" y="2697480"/>
            <a:ext cx="822960" cy="822960"/>
          </a:xfrm>
          <a:prstGeom prst="ellipse">
            <a:avLst/>
          </a:prstGeom>
          <a:solidFill>
            <a:srgbClr val="0E7C7B"/>
          </a:solidFill>
          <a:ln/>
        </p:spPr>
      </p:sp>
      <p:sp>
        <p:nvSpPr>
          <p:cNvPr id="23" name="Text 21"/>
          <p:cNvSpPr/>
          <p:nvPr/>
        </p:nvSpPr>
        <p:spPr>
          <a:xfrm>
            <a:off x="7123176" y="2697480"/>
            <a:ext cx="822960" cy="822960"/>
          </a:xfrm>
          <a:prstGeom prst="rect">
            <a:avLst/>
          </a:prstGeom>
          <a:noFill/>
          <a:ln/>
        </p:spPr>
        <p:txBody>
          <a:bodyPr wrap="square" lIns="0" tIns="0" rIns="0" bIns="0" rtlCol="0" anchor="ctr"/>
          <a:lstStyle/>
          <a:p>
            <a:pPr algn="ctr" indent="0" marL="0">
              <a:buNone/>
            </a:pPr>
            <a:r>
              <a:rPr lang="en-US" sz="2340" dirty="0">
                <a:solidFill>
                  <a:srgbClr val="FFFFFF"/>
                </a:solidFill>
                <a:latin typeface="Calibri" pitchFamily="34" charset="0"/>
                <a:ea typeface="Calibri" pitchFamily="34" charset="-122"/>
                <a:cs typeface="Calibri" pitchFamily="34" charset="-120"/>
              </a:rPr>
              <a:t>◆</a:t>
            </a:r>
            <a:endParaRPr lang="en-US" sz="2340" dirty="0"/>
          </a:p>
        </p:txBody>
      </p:sp>
      <p:sp>
        <p:nvSpPr>
          <p:cNvPr id="24" name="Text 22"/>
          <p:cNvSpPr/>
          <p:nvPr/>
        </p:nvSpPr>
        <p:spPr>
          <a:xfrm>
            <a:off x="6345936" y="3703320"/>
            <a:ext cx="2377440" cy="365760"/>
          </a:xfrm>
          <a:prstGeom prst="rect">
            <a:avLst/>
          </a:prstGeom>
          <a:noFill/>
          <a:ln/>
        </p:spPr>
        <p:txBody>
          <a:bodyPr wrap="square" lIns="0" tIns="0" rIns="0" bIns="0" rtlCol="0" anchor="ctr"/>
          <a:lstStyle/>
          <a:p>
            <a:pPr algn="ctr" indent="0" marL="0">
              <a:buNone/>
            </a:pPr>
            <a:r>
              <a:rPr lang="en-US" sz="1600" b="1" dirty="0">
                <a:solidFill>
                  <a:srgbClr val="1E2340"/>
                </a:solidFill>
                <a:latin typeface="Cambria" pitchFamily="34" charset="0"/>
                <a:ea typeface="Cambria" pitchFamily="34" charset="-122"/>
                <a:cs typeface="Cambria" pitchFamily="34" charset="-120"/>
              </a:rPr>
              <a:t>Node.js</a:t>
            </a:r>
            <a:endParaRPr lang="en-US" sz="1600" dirty="0"/>
          </a:p>
        </p:txBody>
      </p:sp>
      <p:sp>
        <p:nvSpPr>
          <p:cNvPr id="25" name="Text 23"/>
          <p:cNvSpPr/>
          <p:nvPr/>
        </p:nvSpPr>
        <p:spPr>
          <a:xfrm>
            <a:off x="6345936" y="4069080"/>
            <a:ext cx="2377440" cy="274320"/>
          </a:xfrm>
          <a:prstGeom prst="rect">
            <a:avLst/>
          </a:prstGeom>
          <a:noFill/>
          <a:ln/>
        </p:spPr>
        <p:txBody>
          <a:bodyPr wrap="square" lIns="0" tIns="0" rIns="0" bIns="0" rtlCol="0" anchor="ctr"/>
          <a:lstStyle/>
          <a:p>
            <a:pPr algn="ctr" indent="0" marL="0">
              <a:buNone/>
            </a:pPr>
            <a:r>
              <a:rPr lang="en-US" sz="1000" b="1" spc="100" kern="0" dirty="0">
                <a:solidFill>
                  <a:srgbClr val="F2A541"/>
                </a:solidFill>
                <a:latin typeface="Calibri" pitchFamily="34" charset="0"/>
                <a:ea typeface="Calibri" pitchFamily="34" charset="-122"/>
                <a:cs typeface="Calibri" pitchFamily="34" charset="-120"/>
              </a:rPr>
              <a:t>BACKEND</a:t>
            </a:r>
            <a:endParaRPr lang="en-US" sz="1000" dirty="0"/>
          </a:p>
        </p:txBody>
      </p:sp>
      <p:sp>
        <p:nvSpPr>
          <p:cNvPr id="26" name="Text 24"/>
          <p:cNvSpPr/>
          <p:nvPr/>
        </p:nvSpPr>
        <p:spPr>
          <a:xfrm>
            <a:off x="6409944" y="4434840"/>
            <a:ext cx="2249424" cy="1188720"/>
          </a:xfrm>
          <a:prstGeom prst="rect">
            <a:avLst/>
          </a:prstGeom>
          <a:noFill/>
          <a:ln/>
        </p:spPr>
        <p:txBody>
          <a:bodyPr wrap="square" lIns="0" tIns="0" rIns="0" bIns="0" rtlCol="0" anchor="ctr"/>
          <a:lstStyle/>
          <a:p>
            <a:pPr algn="ctr" indent="0" marL="0">
              <a:lnSpc>
                <a:spcPct val="125000"/>
              </a:lnSpc>
              <a:buNone/>
            </a:pPr>
            <a:r>
              <a:rPr lang="en-US" sz="1100" dirty="0">
                <a:solidFill>
                  <a:srgbClr val="6B7280"/>
                </a:solidFill>
                <a:latin typeface="Calibri" pitchFamily="34" charset="0"/>
                <a:ea typeface="Calibri" pitchFamily="34" charset="-122"/>
                <a:cs typeface="Calibri" pitchFamily="34" charset="-120"/>
              </a:rPr>
              <a:t>Scalable, event-driven runtime for the game server</a:t>
            </a:r>
            <a:endParaRPr lang="en-US" sz="1100" dirty="0"/>
          </a:p>
        </p:txBody>
      </p:sp>
      <p:sp>
        <p:nvSpPr>
          <p:cNvPr id="27" name="Shape 25"/>
          <p:cNvSpPr/>
          <p:nvPr/>
        </p:nvSpPr>
        <p:spPr>
          <a:xfrm>
            <a:off x="9089136" y="2377440"/>
            <a:ext cx="2651760" cy="3383280"/>
          </a:xfrm>
          <a:prstGeom prst="roundRect">
            <a:avLst>
              <a:gd name="adj" fmla="val 2759"/>
            </a:avLst>
          </a:prstGeom>
          <a:solidFill>
            <a:srgbClr val="FFFFFF"/>
          </a:solidFill>
          <a:ln/>
          <a:effectLst>
            <a:outerShdw sx="100000" sy="100000" kx="0" ky="0" algn="bl" rotWithShape="0" blurRad="76200" dist="25400" dir="5400000">
              <a:srgbClr val="1E2340">
                <a:alpha val="12000"/>
              </a:srgbClr>
            </a:outerShdw>
          </a:effectLst>
        </p:spPr>
      </p:sp>
      <p:sp>
        <p:nvSpPr>
          <p:cNvPr id="28" name="Shape 26"/>
          <p:cNvSpPr/>
          <p:nvPr/>
        </p:nvSpPr>
        <p:spPr>
          <a:xfrm>
            <a:off x="10003536" y="2697480"/>
            <a:ext cx="822960" cy="822960"/>
          </a:xfrm>
          <a:prstGeom prst="ellipse">
            <a:avLst/>
          </a:prstGeom>
          <a:solidFill>
            <a:srgbClr val="1E2340"/>
          </a:solidFill>
          <a:ln/>
        </p:spPr>
      </p:sp>
      <p:sp>
        <p:nvSpPr>
          <p:cNvPr id="29" name="Text 27"/>
          <p:cNvSpPr/>
          <p:nvPr/>
        </p:nvSpPr>
        <p:spPr>
          <a:xfrm>
            <a:off x="10003536" y="2697480"/>
            <a:ext cx="822960" cy="822960"/>
          </a:xfrm>
          <a:prstGeom prst="rect">
            <a:avLst/>
          </a:prstGeom>
          <a:noFill/>
          <a:ln/>
        </p:spPr>
        <p:txBody>
          <a:bodyPr wrap="square" lIns="0" tIns="0" rIns="0" bIns="0" rtlCol="0" anchor="ctr"/>
          <a:lstStyle/>
          <a:p>
            <a:pPr algn="ctr" indent="0" marL="0">
              <a:buNone/>
            </a:pPr>
            <a:r>
              <a:rPr lang="en-US" sz="2340" dirty="0">
                <a:solidFill>
                  <a:srgbClr val="FFFFFF"/>
                </a:solidFill>
                <a:latin typeface="Calibri" pitchFamily="34" charset="0"/>
                <a:ea typeface="Calibri" pitchFamily="34" charset="-122"/>
                <a:cs typeface="Calibri" pitchFamily="34" charset="-120"/>
              </a:rPr>
              <a:t>▤</a:t>
            </a:r>
            <a:endParaRPr lang="en-US" sz="2340" dirty="0"/>
          </a:p>
        </p:txBody>
      </p:sp>
      <p:sp>
        <p:nvSpPr>
          <p:cNvPr id="30" name="Text 28"/>
          <p:cNvSpPr/>
          <p:nvPr/>
        </p:nvSpPr>
        <p:spPr>
          <a:xfrm>
            <a:off x="9226296" y="3703320"/>
            <a:ext cx="2377440" cy="365760"/>
          </a:xfrm>
          <a:prstGeom prst="rect">
            <a:avLst/>
          </a:prstGeom>
          <a:noFill/>
          <a:ln/>
        </p:spPr>
        <p:txBody>
          <a:bodyPr wrap="square" lIns="0" tIns="0" rIns="0" bIns="0" rtlCol="0" anchor="ctr"/>
          <a:lstStyle/>
          <a:p>
            <a:pPr algn="ctr" indent="0" marL="0">
              <a:buNone/>
            </a:pPr>
            <a:r>
              <a:rPr lang="en-US" sz="1600" b="1" dirty="0">
                <a:solidFill>
                  <a:srgbClr val="1E2340"/>
                </a:solidFill>
                <a:latin typeface="Cambria" pitchFamily="34" charset="0"/>
                <a:ea typeface="Cambria" pitchFamily="34" charset="-122"/>
                <a:cs typeface="Cambria" pitchFamily="34" charset="-120"/>
              </a:rPr>
              <a:t>Express.js</a:t>
            </a:r>
            <a:endParaRPr lang="en-US" sz="1600" dirty="0"/>
          </a:p>
        </p:txBody>
      </p:sp>
      <p:sp>
        <p:nvSpPr>
          <p:cNvPr id="31" name="Text 29"/>
          <p:cNvSpPr/>
          <p:nvPr/>
        </p:nvSpPr>
        <p:spPr>
          <a:xfrm>
            <a:off x="9226296" y="4069080"/>
            <a:ext cx="2377440" cy="274320"/>
          </a:xfrm>
          <a:prstGeom prst="rect">
            <a:avLst/>
          </a:prstGeom>
          <a:noFill/>
          <a:ln/>
        </p:spPr>
        <p:txBody>
          <a:bodyPr wrap="square" lIns="0" tIns="0" rIns="0" bIns="0" rtlCol="0" anchor="ctr"/>
          <a:lstStyle/>
          <a:p>
            <a:pPr algn="ctr" indent="0" marL="0">
              <a:buNone/>
            </a:pPr>
            <a:r>
              <a:rPr lang="en-US" sz="1000" b="1" spc="100" kern="0" dirty="0">
                <a:solidFill>
                  <a:srgbClr val="F2A541"/>
                </a:solidFill>
                <a:latin typeface="Calibri" pitchFamily="34" charset="0"/>
                <a:ea typeface="Calibri" pitchFamily="34" charset="-122"/>
                <a:cs typeface="Calibri" pitchFamily="34" charset="-120"/>
              </a:rPr>
              <a:t>BACKEND</a:t>
            </a:r>
            <a:endParaRPr lang="en-US" sz="1000" dirty="0"/>
          </a:p>
        </p:txBody>
      </p:sp>
      <p:sp>
        <p:nvSpPr>
          <p:cNvPr id="32" name="Text 30"/>
          <p:cNvSpPr/>
          <p:nvPr/>
        </p:nvSpPr>
        <p:spPr>
          <a:xfrm>
            <a:off x="9290304" y="4434840"/>
            <a:ext cx="2249424" cy="1188720"/>
          </a:xfrm>
          <a:prstGeom prst="rect">
            <a:avLst/>
          </a:prstGeom>
          <a:noFill/>
          <a:ln/>
        </p:spPr>
        <p:txBody>
          <a:bodyPr wrap="square" lIns="0" tIns="0" rIns="0" bIns="0" rtlCol="0" anchor="ctr"/>
          <a:lstStyle/>
          <a:p>
            <a:pPr algn="ctr" indent="0" marL="0">
              <a:lnSpc>
                <a:spcPct val="125000"/>
              </a:lnSpc>
              <a:buNone/>
            </a:pPr>
            <a:r>
              <a:rPr lang="en-US" sz="1100" dirty="0">
                <a:solidFill>
                  <a:srgbClr val="6B7280"/>
                </a:solidFill>
                <a:latin typeface="Calibri" pitchFamily="34" charset="0"/>
                <a:ea typeface="Calibri" pitchFamily="34" charset="-122"/>
                <a:cs typeface="Calibri" pitchFamily="34" charset="-120"/>
              </a:rPr>
              <a:t>Handles thousands of simultaneous WebSocket connections</a:t>
            </a:r>
            <a:endParaRPr lang="en-US" sz="1100" dirty="0"/>
          </a:p>
        </p:txBody>
      </p:sp>
      <p:sp>
        <p:nvSpPr>
          <p:cNvPr id="33" name="Text 31"/>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CSE299 Project Proposal  |  Literature Review</a:t>
            </a:r>
            <a:endParaRPr lang="en-US" sz="1000" dirty="0"/>
          </a:p>
        </p:txBody>
      </p:sp>
      <p:sp>
        <p:nvSpPr>
          <p:cNvPr id="34" name="Text 32"/>
          <p:cNvSpPr/>
          <p:nvPr/>
        </p:nvSpPr>
        <p:spPr>
          <a:xfrm>
            <a:off x="11365992"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340"/>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300" b="1" spc="200" kern="0" dirty="0">
                <a:solidFill>
                  <a:srgbClr val="0E7C7B"/>
                </a:solidFill>
                <a:latin typeface="Calibri" pitchFamily="34" charset="0"/>
                <a:ea typeface="Calibri" pitchFamily="34" charset="-122"/>
                <a:cs typeface="Calibri" pitchFamily="34" charset="-120"/>
              </a:rPr>
              <a:t>2.5 PERSISTENCE</a:t>
            </a:r>
            <a:endParaRPr lang="en-US" sz="1300" dirty="0"/>
          </a:p>
        </p:txBody>
      </p:sp>
      <p:sp>
        <p:nvSpPr>
          <p:cNvPr id="3" name="Text 1"/>
          <p:cNvSpPr/>
          <p:nvPr/>
        </p:nvSpPr>
        <p:spPr>
          <a:xfrm>
            <a:off x="548640" y="713232"/>
            <a:ext cx="1060704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Database Management for Multiplayer Apps</a:t>
            </a:r>
            <a:endParaRPr lang="en-US" sz="3000" dirty="0"/>
          </a:p>
        </p:txBody>
      </p:sp>
      <p:sp>
        <p:nvSpPr>
          <p:cNvPr id="4" name="Shape 2"/>
          <p:cNvSpPr/>
          <p:nvPr/>
        </p:nvSpPr>
        <p:spPr>
          <a:xfrm>
            <a:off x="11109960" y="502920"/>
            <a:ext cx="164592" cy="164592"/>
          </a:xfrm>
          <a:prstGeom prst="ellipse">
            <a:avLst/>
          </a:prstGeom>
          <a:solidFill>
            <a:srgbClr val="D62828"/>
          </a:solidFill>
          <a:ln/>
        </p:spPr>
      </p:sp>
      <p:sp>
        <p:nvSpPr>
          <p:cNvPr id="5" name="Shape 3"/>
          <p:cNvSpPr/>
          <p:nvPr/>
        </p:nvSpPr>
        <p:spPr>
          <a:xfrm>
            <a:off x="11329416" y="502920"/>
            <a:ext cx="164592" cy="164592"/>
          </a:xfrm>
          <a:prstGeom prst="ellipse">
            <a:avLst/>
          </a:prstGeom>
          <a:solidFill>
            <a:srgbClr val="2A9D8F"/>
          </a:solidFill>
          <a:ln/>
        </p:spPr>
      </p:sp>
      <p:sp>
        <p:nvSpPr>
          <p:cNvPr id="6" name="Shape 4"/>
          <p:cNvSpPr/>
          <p:nvPr/>
        </p:nvSpPr>
        <p:spPr>
          <a:xfrm>
            <a:off x="11548872" y="502920"/>
            <a:ext cx="164592" cy="164592"/>
          </a:xfrm>
          <a:prstGeom prst="ellipse">
            <a:avLst/>
          </a:prstGeom>
          <a:solidFill>
            <a:srgbClr val="E9C46A"/>
          </a:solidFill>
          <a:ln/>
        </p:spPr>
      </p:sp>
      <p:sp>
        <p:nvSpPr>
          <p:cNvPr id="7" name="Shape 5"/>
          <p:cNvSpPr/>
          <p:nvPr/>
        </p:nvSpPr>
        <p:spPr>
          <a:xfrm>
            <a:off x="11768328" y="502920"/>
            <a:ext cx="164592" cy="164592"/>
          </a:xfrm>
          <a:prstGeom prst="ellipse">
            <a:avLst/>
          </a:prstGeom>
          <a:solidFill>
            <a:srgbClr val="277DA1"/>
          </a:solidFill>
          <a:ln/>
        </p:spPr>
      </p:sp>
      <p:sp>
        <p:nvSpPr>
          <p:cNvPr id="8" name="Text 6"/>
          <p:cNvSpPr/>
          <p:nvPr/>
        </p:nvSpPr>
        <p:spPr>
          <a:xfrm>
            <a:off x="548640" y="1691640"/>
            <a:ext cx="5577840" cy="1371600"/>
          </a:xfrm>
          <a:prstGeom prst="rect">
            <a:avLst/>
          </a:prstGeom>
          <a:noFill/>
          <a:ln/>
        </p:spPr>
        <p:txBody>
          <a:bodyPr wrap="square" lIns="0" tIns="0" rIns="0" bIns="0" rtlCol="0" anchor="ctr"/>
          <a:lstStyle/>
          <a:p>
            <a:pPr indent="0" marL="0">
              <a:lnSpc>
                <a:spcPct val="135000"/>
              </a:lnSpc>
              <a:buNone/>
            </a:pPr>
            <a:r>
              <a:rPr lang="en-US" sz="1550" dirty="0">
                <a:solidFill>
                  <a:srgbClr val="C7CBE8"/>
                </a:solidFill>
                <a:latin typeface="Calibri" pitchFamily="34" charset="0"/>
                <a:ea typeface="Calibri" pitchFamily="34" charset="-122"/>
                <a:cs typeface="Calibri" pitchFamily="34" charset="-120"/>
              </a:rPr>
              <a:t>Persistent storage plays a significant role in modern multiplayer games. NoSQL databases such as MongoDB are widely used for their flexible, document-based structure.</a:t>
            </a:r>
            <a:endParaRPr lang="en-US" sz="1550" dirty="0"/>
          </a:p>
        </p:txBody>
      </p:sp>
      <p:sp>
        <p:nvSpPr>
          <p:cNvPr id="9" name="Text 7"/>
          <p:cNvSpPr/>
          <p:nvPr/>
        </p:nvSpPr>
        <p:spPr>
          <a:xfrm>
            <a:off x="548640" y="3017520"/>
            <a:ext cx="5577840" cy="1188720"/>
          </a:xfrm>
          <a:prstGeom prst="rect">
            <a:avLst/>
          </a:prstGeom>
          <a:noFill/>
          <a:ln/>
        </p:spPr>
        <p:txBody>
          <a:bodyPr wrap="square" lIns="0" tIns="0" rIns="0" bIns="0" rtlCol="0" anchor="ctr"/>
          <a:lstStyle/>
          <a:p>
            <a:pPr indent="0" marL="0">
              <a:lnSpc>
                <a:spcPct val="135000"/>
              </a:lnSpc>
              <a:buNone/>
            </a:pPr>
            <a:r>
              <a:rPr lang="en-US" sz="1550" dirty="0">
                <a:solidFill>
                  <a:srgbClr val="C7CBE8"/>
                </a:solidFill>
                <a:latin typeface="Calibri" pitchFamily="34" charset="0"/>
                <a:ea typeface="Calibri" pitchFamily="34" charset="-122"/>
                <a:cs typeface="Calibri" pitchFamily="34" charset="-120"/>
              </a:rPr>
              <a:t>Indexing and optimized query execution allow faster retrieval of player data — and keep the system scalable as the player base grows.</a:t>
            </a:r>
            <a:endParaRPr lang="en-US" sz="1550" dirty="0"/>
          </a:p>
        </p:txBody>
      </p:sp>
      <p:sp>
        <p:nvSpPr>
          <p:cNvPr id="10" name="Shape 8"/>
          <p:cNvSpPr/>
          <p:nvPr/>
        </p:nvSpPr>
        <p:spPr>
          <a:xfrm>
            <a:off x="6766560" y="1828800"/>
            <a:ext cx="4846320" cy="658368"/>
          </a:xfrm>
          <a:prstGeom prst="roundRect">
            <a:avLst>
              <a:gd name="adj" fmla="val 11111"/>
            </a:avLst>
          </a:prstGeom>
          <a:solidFill>
            <a:srgbClr val="2A2F55"/>
          </a:solidFill>
          <a:ln/>
        </p:spPr>
      </p:sp>
      <p:sp>
        <p:nvSpPr>
          <p:cNvPr id="11" name="Shape 9"/>
          <p:cNvSpPr/>
          <p:nvPr/>
        </p:nvSpPr>
        <p:spPr>
          <a:xfrm>
            <a:off x="6912864" y="1947672"/>
            <a:ext cx="420624" cy="420624"/>
          </a:xfrm>
          <a:prstGeom prst="ellipse">
            <a:avLst/>
          </a:prstGeom>
          <a:solidFill>
            <a:srgbClr val="0E7C7B"/>
          </a:solidFill>
          <a:ln/>
        </p:spPr>
      </p:sp>
      <p:sp>
        <p:nvSpPr>
          <p:cNvPr id="12" name="Text 10"/>
          <p:cNvSpPr/>
          <p:nvPr/>
        </p:nvSpPr>
        <p:spPr>
          <a:xfrm>
            <a:off x="6912864" y="1947672"/>
            <a:ext cx="420624" cy="420624"/>
          </a:xfrm>
          <a:prstGeom prst="rect">
            <a:avLst/>
          </a:prstGeom>
          <a:noFill/>
          <a:ln/>
        </p:spPr>
        <p:txBody>
          <a:bodyPr wrap="square" lIns="0" tIns="0" rIns="0" bIns="0" rtlCol="0" anchor="ctr"/>
          <a:lstStyle/>
          <a:p>
            <a:pPr algn="ctr" indent="0" marL="0">
              <a:buNone/>
            </a:pPr>
            <a:r>
              <a:rPr lang="en-US" sz="1196" dirty="0">
                <a:solidFill>
                  <a:srgbClr val="FFFFFF"/>
                </a:solidFill>
                <a:latin typeface="Calibri" pitchFamily="34" charset="0"/>
                <a:ea typeface="Calibri" pitchFamily="34" charset="-122"/>
                <a:cs typeface="Calibri" pitchFamily="34" charset="-120"/>
              </a:rPr>
              <a:t>▤</a:t>
            </a:r>
            <a:endParaRPr lang="en-US" sz="1196" dirty="0"/>
          </a:p>
        </p:txBody>
      </p:sp>
      <p:sp>
        <p:nvSpPr>
          <p:cNvPr id="13" name="Text 11"/>
          <p:cNvSpPr/>
          <p:nvPr/>
        </p:nvSpPr>
        <p:spPr>
          <a:xfrm>
            <a:off x="7479792" y="1828800"/>
            <a:ext cx="3977640" cy="65836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User accounts &amp; authentication</a:t>
            </a:r>
            <a:endParaRPr lang="en-US" sz="1350" dirty="0"/>
          </a:p>
        </p:txBody>
      </p:sp>
      <p:sp>
        <p:nvSpPr>
          <p:cNvPr id="14" name="Shape 12"/>
          <p:cNvSpPr/>
          <p:nvPr/>
        </p:nvSpPr>
        <p:spPr>
          <a:xfrm>
            <a:off x="6766560" y="2697480"/>
            <a:ext cx="4846320" cy="658368"/>
          </a:xfrm>
          <a:prstGeom prst="roundRect">
            <a:avLst>
              <a:gd name="adj" fmla="val 11111"/>
            </a:avLst>
          </a:prstGeom>
          <a:solidFill>
            <a:srgbClr val="2A2F55"/>
          </a:solidFill>
          <a:ln/>
        </p:spPr>
      </p:sp>
      <p:sp>
        <p:nvSpPr>
          <p:cNvPr id="15" name="Shape 13"/>
          <p:cNvSpPr/>
          <p:nvPr/>
        </p:nvSpPr>
        <p:spPr>
          <a:xfrm>
            <a:off x="6912864" y="2816352"/>
            <a:ext cx="420624" cy="420624"/>
          </a:xfrm>
          <a:prstGeom prst="ellipse">
            <a:avLst/>
          </a:prstGeom>
          <a:solidFill>
            <a:srgbClr val="0E7C7B"/>
          </a:solidFill>
          <a:ln/>
        </p:spPr>
      </p:sp>
      <p:sp>
        <p:nvSpPr>
          <p:cNvPr id="16" name="Text 14"/>
          <p:cNvSpPr/>
          <p:nvPr/>
        </p:nvSpPr>
        <p:spPr>
          <a:xfrm>
            <a:off x="6912864" y="2816352"/>
            <a:ext cx="420624" cy="420624"/>
          </a:xfrm>
          <a:prstGeom prst="rect">
            <a:avLst/>
          </a:prstGeom>
          <a:noFill/>
          <a:ln/>
        </p:spPr>
        <p:txBody>
          <a:bodyPr wrap="square" lIns="0" tIns="0" rIns="0" bIns="0" rtlCol="0" anchor="ctr"/>
          <a:lstStyle/>
          <a:p>
            <a:pPr algn="ctr" indent="0" marL="0">
              <a:buNone/>
            </a:pPr>
            <a:r>
              <a:rPr lang="en-US" sz="1196" dirty="0">
                <a:solidFill>
                  <a:srgbClr val="FFFFFF"/>
                </a:solidFill>
                <a:latin typeface="Calibri" pitchFamily="34" charset="0"/>
                <a:ea typeface="Calibri" pitchFamily="34" charset="-122"/>
                <a:cs typeface="Calibri" pitchFamily="34" charset="-120"/>
              </a:rPr>
              <a:t>▤</a:t>
            </a:r>
            <a:endParaRPr lang="en-US" sz="1196" dirty="0"/>
          </a:p>
        </p:txBody>
      </p:sp>
      <p:sp>
        <p:nvSpPr>
          <p:cNvPr id="17" name="Text 15"/>
          <p:cNvSpPr/>
          <p:nvPr/>
        </p:nvSpPr>
        <p:spPr>
          <a:xfrm>
            <a:off x="7479792" y="2697480"/>
            <a:ext cx="3977640" cy="65836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Match history</a:t>
            </a:r>
            <a:endParaRPr lang="en-US" sz="1350" dirty="0"/>
          </a:p>
        </p:txBody>
      </p:sp>
      <p:sp>
        <p:nvSpPr>
          <p:cNvPr id="18" name="Shape 16"/>
          <p:cNvSpPr/>
          <p:nvPr/>
        </p:nvSpPr>
        <p:spPr>
          <a:xfrm>
            <a:off x="6766560" y="3566160"/>
            <a:ext cx="4846320" cy="658368"/>
          </a:xfrm>
          <a:prstGeom prst="roundRect">
            <a:avLst>
              <a:gd name="adj" fmla="val 11111"/>
            </a:avLst>
          </a:prstGeom>
          <a:solidFill>
            <a:srgbClr val="2A2F55"/>
          </a:solidFill>
          <a:ln/>
        </p:spPr>
      </p:sp>
      <p:sp>
        <p:nvSpPr>
          <p:cNvPr id="19" name="Shape 17"/>
          <p:cNvSpPr/>
          <p:nvPr/>
        </p:nvSpPr>
        <p:spPr>
          <a:xfrm>
            <a:off x="6912864" y="3685032"/>
            <a:ext cx="420624" cy="420624"/>
          </a:xfrm>
          <a:prstGeom prst="ellipse">
            <a:avLst/>
          </a:prstGeom>
          <a:solidFill>
            <a:srgbClr val="0E7C7B"/>
          </a:solidFill>
          <a:ln/>
        </p:spPr>
      </p:sp>
      <p:sp>
        <p:nvSpPr>
          <p:cNvPr id="20" name="Text 18"/>
          <p:cNvSpPr/>
          <p:nvPr/>
        </p:nvSpPr>
        <p:spPr>
          <a:xfrm>
            <a:off x="6912864" y="3685032"/>
            <a:ext cx="420624" cy="420624"/>
          </a:xfrm>
          <a:prstGeom prst="rect">
            <a:avLst/>
          </a:prstGeom>
          <a:noFill/>
          <a:ln/>
        </p:spPr>
        <p:txBody>
          <a:bodyPr wrap="square" lIns="0" tIns="0" rIns="0" bIns="0" rtlCol="0" anchor="ctr"/>
          <a:lstStyle/>
          <a:p>
            <a:pPr algn="ctr" indent="0" marL="0">
              <a:buNone/>
            </a:pPr>
            <a:r>
              <a:rPr lang="en-US" sz="1196" dirty="0">
                <a:solidFill>
                  <a:srgbClr val="FFFFFF"/>
                </a:solidFill>
                <a:latin typeface="Calibri" pitchFamily="34" charset="0"/>
                <a:ea typeface="Calibri" pitchFamily="34" charset="-122"/>
                <a:cs typeface="Calibri" pitchFamily="34" charset="-120"/>
              </a:rPr>
              <a:t>▤</a:t>
            </a:r>
            <a:endParaRPr lang="en-US" sz="1196" dirty="0"/>
          </a:p>
        </p:txBody>
      </p:sp>
      <p:sp>
        <p:nvSpPr>
          <p:cNvPr id="21" name="Text 19"/>
          <p:cNvSpPr/>
          <p:nvPr/>
        </p:nvSpPr>
        <p:spPr>
          <a:xfrm>
            <a:off x="7479792" y="3566160"/>
            <a:ext cx="3977640" cy="65836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Player statistics</a:t>
            </a:r>
            <a:endParaRPr lang="en-US" sz="1350" dirty="0"/>
          </a:p>
        </p:txBody>
      </p:sp>
      <p:sp>
        <p:nvSpPr>
          <p:cNvPr id="22" name="Shape 20"/>
          <p:cNvSpPr/>
          <p:nvPr/>
        </p:nvSpPr>
        <p:spPr>
          <a:xfrm>
            <a:off x="6766560" y="4434840"/>
            <a:ext cx="4846320" cy="658368"/>
          </a:xfrm>
          <a:prstGeom prst="roundRect">
            <a:avLst>
              <a:gd name="adj" fmla="val 11111"/>
            </a:avLst>
          </a:prstGeom>
          <a:solidFill>
            <a:srgbClr val="2A2F55"/>
          </a:solidFill>
          <a:ln/>
        </p:spPr>
      </p:sp>
      <p:sp>
        <p:nvSpPr>
          <p:cNvPr id="23" name="Shape 21"/>
          <p:cNvSpPr/>
          <p:nvPr/>
        </p:nvSpPr>
        <p:spPr>
          <a:xfrm>
            <a:off x="6912864" y="4553712"/>
            <a:ext cx="420624" cy="420624"/>
          </a:xfrm>
          <a:prstGeom prst="ellipse">
            <a:avLst/>
          </a:prstGeom>
          <a:solidFill>
            <a:srgbClr val="0E7C7B"/>
          </a:solidFill>
          <a:ln/>
        </p:spPr>
      </p:sp>
      <p:sp>
        <p:nvSpPr>
          <p:cNvPr id="24" name="Text 22"/>
          <p:cNvSpPr/>
          <p:nvPr/>
        </p:nvSpPr>
        <p:spPr>
          <a:xfrm>
            <a:off x="6912864" y="4553712"/>
            <a:ext cx="420624" cy="420624"/>
          </a:xfrm>
          <a:prstGeom prst="rect">
            <a:avLst/>
          </a:prstGeom>
          <a:noFill/>
          <a:ln/>
        </p:spPr>
        <p:txBody>
          <a:bodyPr wrap="square" lIns="0" tIns="0" rIns="0" bIns="0" rtlCol="0" anchor="ctr"/>
          <a:lstStyle/>
          <a:p>
            <a:pPr algn="ctr" indent="0" marL="0">
              <a:buNone/>
            </a:pPr>
            <a:r>
              <a:rPr lang="en-US" sz="1196" dirty="0">
                <a:solidFill>
                  <a:srgbClr val="FFFFFF"/>
                </a:solidFill>
                <a:latin typeface="Calibri" pitchFamily="34" charset="0"/>
                <a:ea typeface="Calibri" pitchFamily="34" charset="-122"/>
                <a:cs typeface="Calibri" pitchFamily="34" charset="-120"/>
              </a:rPr>
              <a:t>▤</a:t>
            </a:r>
            <a:endParaRPr lang="en-US" sz="1196" dirty="0"/>
          </a:p>
        </p:txBody>
      </p:sp>
      <p:sp>
        <p:nvSpPr>
          <p:cNvPr id="25" name="Text 23"/>
          <p:cNvSpPr/>
          <p:nvPr/>
        </p:nvSpPr>
        <p:spPr>
          <a:xfrm>
            <a:off x="7479792" y="4434840"/>
            <a:ext cx="3977640" cy="65836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Game configurations</a:t>
            </a:r>
            <a:endParaRPr lang="en-US" sz="1350" dirty="0"/>
          </a:p>
        </p:txBody>
      </p:sp>
      <p:sp>
        <p:nvSpPr>
          <p:cNvPr id="26" name="Text 24"/>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9AA0C0"/>
                </a:solidFill>
                <a:latin typeface="Calibri" pitchFamily="34" charset="0"/>
                <a:ea typeface="Calibri" pitchFamily="34" charset="-122"/>
                <a:cs typeface="Calibri" pitchFamily="34" charset="-120"/>
              </a:rPr>
              <a:t>CSE299 Project Proposal  |  Literature Review</a:t>
            </a:r>
            <a:endParaRPr lang="en-US" sz="1000" dirty="0"/>
          </a:p>
        </p:txBody>
      </p:sp>
      <p:sp>
        <p:nvSpPr>
          <p:cNvPr id="27" name="Text 25"/>
          <p:cNvSpPr/>
          <p:nvPr/>
        </p:nvSpPr>
        <p:spPr>
          <a:xfrm>
            <a:off x="11365992" y="6473952"/>
            <a:ext cx="457200" cy="274320"/>
          </a:xfrm>
          <a:prstGeom prst="rect">
            <a:avLst/>
          </a:prstGeom>
          <a:noFill/>
          <a:ln/>
        </p:spPr>
        <p:txBody>
          <a:bodyPr wrap="square" lIns="0" tIns="0" rIns="0" bIns="0" rtlCol="0" anchor="ctr"/>
          <a:lstStyle/>
          <a:p>
            <a:pPr algn="r" indent="0" marL="0">
              <a:buNone/>
            </a:pPr>
            <a:r>
              <a:rPr lang="en-US" sz="1000" dirty="0">
                <a:solidFill>
                  <a:srgbClr val="9AA0C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300" b="1" spc="200" kern="0" dirty="0">
                <a:solidFill>
                  <a:srgbClr val="0E7C7B"/>
                </a:solidFill>
                <a:latin typeface="Calibri" pitchFamily="34" charset="0"/>
                <a:ea typeface="Calibri" pitchFamily="34" charset="-122"/>
                <a:cs typeface="Calibri" pitchFamily="34" charset="-120"/>
              </a:rPr>
              <a:t>2.6 MARKET LANDSCAPE</a:t>
            </a:r>
            <a:endParaRPr lang="en-US" sz="1300" dirty="0"/>
          </a:p>
        </p:txBody>
      </p:sp>
      <p:sp>
        <p:nvSpPr>
          <p:cNvPr id="3" name="Text 1"/>
          <p:cNvSpPr/>
          <p:nvPr/>
        </p:nvSpPr>
        <p:spPr>
          <a:xfrm>
            <a:off x="548640" y="713232"/>
            <a:ext cx="10607040" cy="685800"/>
          </a:xfrm>
          <a:prstGeom prst="rect">
            <a:avLst/>
          </a:prstGeom>
          <a:noFill/>
          <a:ln/>
        </p:spPr>
        <p:txBody>
          <a:bodyPr wrap="square" lIns="0" tIns="0" rIns="0" bIns="0" rtlCol="0" anchor="ctr"/>
          <a:lstStyle/>
          <a:p>
            <a:pPr indent="0" marL="0">
              <a:buNone/>
            </a:pPr>
            <a:r>
              <a:rPr lang="en-US" sz="3000" b="1" dirty="0">
                <a:solidFill>
                  <a:srgbClr val="1E2340"/>
                </a:solidFill>
                <a:latin typeface="Cambria" pitchFamily="34" charset="0"/>
                <a:ea typeface="Cambria" pitchFamily="34" charset="-122"/>
                <a:cs typeface="Cambria" pitchFamily="34" charset="-120"/>
              </a:rPr>
              <a:t>Existing Online Ludo Platforms</a:t>
            </a:r>
            <a:endParaRPr lang="en-US" sz="3000" dirty="0"/>
          </a:p>
        </p:txBody>
      </p:sp>
      <p:sp>
        <p:nvSpPr>
          <p:cNvPr id="4" name="Shape 2"/>
          <p:cNvSpPr/>
          <p:nvPr/>
        </p:nvSpPr>
        <p:spPr>
          <a:xfrm>
            <a:off x="11109960" y="502920"/>
            <a:ext cx="164592" cy="164592"/>
          </a:xfrm>
          <a:prstGeom prst="ellipse">
            <a:avLst/>
          </a:prstGeom>
          <a:solidFill>
            <a:srgbClr val="D62828"/>
          </a:solidFill>
          <a:ln/>
        </p:spPr>
      </p:sp>
      <p:sp>
        <p:nvSpPr>
          <p:cNvPr id="5" name="Shape 3"/>
          <p:cNvSpPr/>
          <p:nvPr/>
        </p:nvSpPr>
        <p:spPr>
          <a:xfrm>
            <a:off x="11329416" y="502920"/>
            <a:ext cx="164592" cy="164592"/>
          </a:xfrm>
          <a:prstGeom prst="ellipse">
            <a:avLst/>
          </a:prstGeom>
          <a:solidFill>
            <a:srgbClr val="2A9D8F"/>
          </a:solidFill>
          <a:ln/>
        </p:spPr>
      </p:sp>
      <p:sp>
        <p:nvSpPr>
          <p:cNvPr id="6" name="Shape 4"/>
          <p:cNvSpPr/>
          <p:nvPr/>
        </p:nvSpPr>
        <p:spPr>
          <a:xfrm>
            <a:off x="11548872" y="502920"/>
            <a:ext cx="164592" cy="164592"/>
          </a:xfrm>
          <a:prstGeom prst="ellipse">
            <a:avLst/>
          </a:prstGeom>
          <a:solidFill>
            <a:srgbClr val="E9C46A"/>
          </a:solidFill>
          <a:ln/>
        </p:spPr>
      </p:sp>
      <p:sp>
        <p:nvSpPr>
          <p:cNvPr id="7" name="Shape 5"/>
          <p:cNvSpPr/>
          <p:nvPr/>
        </p:nvSpPr>
        <p:spPr>
          <a:xfrm>
            <a:off x="11768328" y="502920"/>
            <a:ext cx="164592" cy="164592"/>
          </a:xfrm>
          <a:prstGeom prst="ellipse">
            <a:avLst/>
          </a:prstGeom>
          <a:solidFill>
            <a:srgbClr val="277DA1"/>
          </a:solidFill>
          <a:ln/>
        </p:spPr>
      </p:sp>
      <p:sp>
        <p:nvSpPr>
          <p:cNvPr id="8" name="Shape 6"/>
          <p:cNvSpPr/>
          <p:nvPr/>
        </p:nvSpPr>
        <p:spPr>
          <a:xfrm>
            <a:off x="699516" y="1783080"/>
            <a:ext cx="3383280" cy="1737360"/>
          </a:xfrm>
          <a:prstGeom prst="roundRect">
            <a:avLst>
              <a:gd name="adj" fmla="val 4211"/>
            </a:avLst>
          </a:prstGeom>
          <a:solidFill>
            <a:srgbClr val="FFFFFF"/>
          </a:solidFill>
          <a:ln/>
          <a:effectLst>
            <a:outerShdw sx="100000" sy="100000" kx="0" ky="0" algn="bl" rotWithShape="0" blurRad="76200" dist="25400" dir="5400000">
              <a:srgbClr val="1E2340">
                <a:alpha val="12000"/>
              </a:srgbClr>
            </a:outerShdw>
          </a:effectLst>
        </p:spPr>
      </p:sp>
      <p:sp>
        <p:nvSpPr>
          <p:cNvPr id="9" name="Text 7"/>
          <p:cNvSpPr/>
          <p:nvPr/>
        </p:nvSpPr>
        <p:spPr>
          <a:xfrm>
            <a:off x="973836" y="2011680"/>
            <a:ext cx="2834640" cy="411480"/>
          </a:xfrm>
          <a:prstGeom prst="rect">
            <a:avLst/>
          </a:prstGeom>
          <a:noFill/>
          <a:ln/>
        </p:spPr>
        <p:txBody>
          <a:bodyPr wrap="square" lIns="0" tIns="0" rIns="0" bIns="0" rtlCol="0" anchor="ctr"/>
          <a:lstStyle/>
          <a:p>
            <a:pPr indent="0" marL="0">
              <a:buNone/>
            </a:pPr>
            <a:r>
              <a:rPr lang="en-US" sz="1800" b="1" dirty="0">
                <a:solidFill>
                  <a:srgbClr val="1E2340"/>
                </a:solidFill>
                <a:latin typeface="Cambria" pitchFamily="34" charset="0"/>
                <a:ea typeface="Cambria" pitchFamily="34" charset="-122"/>
                <a:cs typeface="Cambria" pitchFamily="34" charset="-120"/>
              </a:rPr>
              <a:t>Ludo King</a:t>
            </a:r>
            <a:endParaRPr lang="en-US" sz="1800" dirty="0"/>
          </a:p>
        </p:txBody>
      </p:sp>
      <p:sp>
        <p:nvSpPr>
          <p:cNvPr id="10" name="Text 8"/>
          <p:cNvSpPr/>
          <p:nvPr/>
        </p:nvSpPr>
        <p:spPr>
          <a:xfrm>
            <a:off x="973836" y="2560320"/>
            <a:ext cx="2834640" cy="822960"/>
          </a:xfrm>
          <a:prstGeom prst="rect">
            <a:avLst/>
          </a:prstGeom>
          <a:noFill/>
          <a:ln/>
        </p:spPr>
        <p:txBody>
          <a:bodyPr wrap="square" lIns="0" tIns="0" rIns="0" bIns="0" rtlCol="0" anchor="ctr"/>
          <a:lstStyle/>
          <a:p>
            <a:pPr indent="0" marL="0">
              <a:lnSpc>
                <a:spcPct val="125000"/>
              </a:lnSpc>
              <a:buNone/>
            </a:pPr>
            <a:r>
              <a:rPr lang="en-US" sz="1250" dirty="0">
                <a:solidFill>
                  <a:srgbClr val="6B7280"/>
                </a:solidFill>
                <a:latin typeface="Calibri" pitchFamily="34" charset="0"/>
                <a:ea typeface="Calibri" pitchFamily="34" charset="-122"/>
                <a:cs typeface="Calibri" pitchFamily="34" charset="-120"/>
              </a:rPr>
              <a:t>Mass-market mobile app; large player base</a:t>
            </a:r>
            <a:endParaRPr lang="en-US" sz="1250" dirty="0"/>
          </a:p>
        </p:txBody>
      </p:sp>
      <p:sp>
        <p:nvSpPr>
          <p:cNvPr id="11" name="Shape 9"/>
          <p:cNvSpPr/>
          <p:nvPr/>
        </p:nvSpPr>
        <p:spPr>
          <a:xfrm>
            <a:off x="4402836" y="1783080"/>
            <a:ext cx="3383280" cy="1737360"/>
          </a:xfrm>
          <a:prstGeom prst="roundRect">
            <a:avLst>
              <a:gd name="adj" fmla="val 4211"/>
            </a:avLst>
          </a:prstGeom>
          <a:solidFill>
            <a:srgbClr val="FFFFFF"/>
          </a:solidFill>
          <a:ln/>
          <a:effectLst>
            <a:outerShdw sx="100000" sy="100000" kx="0" ky="0" algn="bl" rotWithShape="0" blurRad="76200" dist="25400" dir="5400000">
              <a:srgbClr val="1E2340">
                <a:alpha val="12000"/>
              </a:srgbClr>
            </a:outerShdw>
          </a:effectLst>
        </p:spPr>
      </p:sp>
      <p:sp>
        <p:nvSpPr>
          <p:cNvPr id="12" name="Text 10"/>
          <p:cNvSpPr/>
          <p:nvPr/>
        </p:nvSpPr>
        <p:spPr>
          <a:xfrm>
            <a:off x="4677156" y="2011680"/>
            <a:ext cx="2834640" cy="411480"/>
          </a:xfrm>
          <a:prstGeom prst="rect">
            <a:avLst/>
          </a:prstGeom>
          <a:noFill/>
          <a:ln/>
        </p:spPr>
        <p:txBody>
          <a:bodyPr wrap="square" lIns="0" tIns="0" rIns="0" bIns="0" rtlCol="0" anchor="ctr"/>
          <a:lstStyle/>
          <a:p>
            <a:pPr indent="0" marL="0">
              <a:buNone/>
            </a:pPr>
            <a:r>
              <a:rPr lang="en-US" sz="1800" b="1" dirty="0">
                <a:solidFill>
                  <a:srgbClr val="1E2340"/>
                </a:solidFill>
                <a:latin typeface="Cambria" pitchFamily="34" charset="0"/>
                <a:ea typeface="Cambria" pitchFamily="34" charset="-122"/>
                <a:cs typeface="Cambria" pitchFamily="34" charset="-120"/>
              </a:rPr>
              <a:t>MPL</a:t>
            </a:r>
            <a:endParaRPr lang="en-US" sz="1800" dirty="0"/>
          </a:p>
        </p:txBody>
      </p:sp>
      <p:sp>
        <p:nvSpPr>
          <p:cNvPr id="13" name="Text 11"/>
          <p:cNvSpPr/>
          <p:nvPr/>
        </p:nvSpPr>
        <p:spPr>
          <a:xfrm>
            <a:off x="4677156" y="2560320"/>
            <a:ext cx="2834640" cy="822960"/>
          </a:xfrm>
          <a:prstGeom prst="rect">
            <a:avLst/>
          </a:prstGeom>
          <a:noFill/>
          <a:ln/>
        </p:spPr>
        <p:txBody>
          <a:bodyPr wrap="square" lIns="0" tIns="0" rIns="0" bIns="0" rtlCol="0" anchor="ctr"/>
          <a:lstStyle/>
          <a:p>
            <a:pPr indent="0" marL="0">
              <a:lnSpc>
                <a:spcPct val="125000"/>
              </a:lnSpc>
              <a:buNone/>
            </a:pPr>
            <a:r>
              <a:rPr lang="en-US" sz="1250" dirty="0">
                <a:solidFill>
                  <a:srgbClr val="6B7280"/>
                </a:solidFill>
                <a:latin typeface="Calibri" pitchFamily="34" charset="0"/>
                <a:ea typeface="Calibri" pitchFamily="34" charset="-122"/>
                <a:cs typeface="Calibri" pitchFamily="34" charset="-120"/>
              </a:rPr>
              <a:t>Skill-gaming platform with Ludo variants</a:t>
            </a:r>
            <a:endParaRPr lang="en-US" sz="1250" dirty="0"/>
          </a:p>
        </p:txBody>
      </p:sp>
      <p:sp>
        <p:nvSpPr>
          <p:cNvPr id="14" name="Shape 12"/>
          <p:cNvSpPr/>
          <p:nvPr/>
        </p:nvSpPr>
        <p:spPr>
          <a:xfrm>
            <a:off x="8106156" y="1783080"/>
            <a:ext cx="3383280" cy="1737360"/>
          </a:xfrm>
          <a:prstGeom prst="roundRect">
            <a:avLst>
              <a:gd name="adj" fmla="val 4211"/>
            </a:avLst>
          </a:prstGeom>
          <a:solidFill>
            <a:srgbClr val="FFFFFF"/>
          </a:solidFill>
          <a:ln/>
          <a:effectLst>
            <a:outerShdw sx="100000" sy="100000" kx="0" ky="0" algn="bl" rotWithShape="0" blurRad="76200" dist="25400" dir="5400000">
              <a:srgbClr val="1E2340">
                <a:alpha val="12000"/>
              </a:srgbClr>
            </a:outerShdw>
          </a:effectLst>
        </p:spPr>
      </p:sp>
      <p:sp>
        <p:nvSpPr>
          <p:cNvPr id="15" name="Text 13"/>
          <p:cNvSpPr/>
          <p:nvPr/>
        </p:nvSpPr>
        <p:spPr>
          <a:xfrm>
            <a:off x="8380476" y="2011680"/>
            <a:ext cx="2834640" cy="411480"/>
          </a:xfrm>
          <a:prstGeom prst="rect">
            <a:avLst/>
          </a:prstGeom>
          <a:noFill/>
          <a:ln/>
        </p:spPr>
        <p:txBody>
          <a:bodyPr wrap="square" lIns="0" tIns="0" rIns="0" bIns="0" rtlCol="0" anchor="ctr"/>
          <a:lstStyle/>
          <a:p>
            <a:pPr indent="0" marL="0">
              <a:buNone/>
            </a:pPr>
            <a:r>
              <a:rPr lang="en-US" sz="1800" b="1" dirty="0">
                <a:solidFill>
                  <a:srgbClr val="1E2340"/>
                </a:solidFill>
                <a:latin typeface="Cambria" pitchFamily="34" charset="0"/>
                <a:ea typeface="Cambria" pitchFamily="34" charset="-122"/>
                <a:cs typeface="Cambria" pitchFamily="34" charset="-120"/>
              </a:rPr>
              <a:t>Gamezy</a:t>
            </a:r>
            <a:endParaRPr lang="en-US" sz="1800" dirty="0"/>
          </a:p>
        </p:txBody>
      </p:sp>
      <p:sp>
        <p:nvSpPr>
          <p:cNvPr id="16" name="Text 14"/>
          <p:cNvSpPr/>
          <p:nvPr/>
        </p:nvSpPr>
        <p:spPr>
          <a:xfrm>
            <a:off x="8380476" y="2560320"/>
            <a:ext cx="2834640" cy="822960"/>
          </a:xfrm>
          <a:prstGeom prst="rect">
            <a:avLst/>
          </a:prstGeom>
          <a:noFill/>
          <a:ln/>
        </p:spPr>
        <p:txBody>
          <a:bodyPr wrap="square" lIns="0" tIns="0" rIns="0" bIns="0" rtlCol="0" anchor="ctr"/>
          <a:lstStyle/>
          <a:p>
            <a:pPr indent="0" marL="0">
              <a:lnSpc>
                <a:spcPct val="125000"/>
              </a:lnSpc>
              <a:buNone/>
            </a:pPr>
            <a:r>
              <a:rPr lang="en-US" sz="1250" dirty="0">
                <a:solidFill>
                  <a:srgbClr val="6B7280"/>
                </a:solidFill>
                <a:latin typeface="Calibri" pitchFamily="34" charset="0"/>
                <a:ea typeface="Calibri" pitchFamily="34" charset="-122"/>
                <a:cs typeface="Calibri" pitchFamily="34" charset="-120"/>
              </a:rPr>
              <a:t>Real-money gaming app featuring Ludo</a:t>
            </a:r>
            <a:endParaRPr lang="en-US" sz="1250" dirty="0"/>
          </a:p>
        </p:txBody>
      </p:sp>
      <p:sp>
        <p:nvSpPr>
          <p:cNvPr id="17" name="Text 15"/>
          <p:cNvSpPr/>
          <p:nvPr/>
        </p:nvSpPr>
        <p:spPr>
          <a:xfrm>
            <a:off x="548640" y="3794760"/>
            <a:ext cx="7315200" cy="365760"/>
          </a:xfrm>
          <a:prstGeom prst="rect">
            <a:avLst/>
          </a:prstGeom>
          <a:noFill/>
          <a:ln/>
        </p:spPr>
        <p:txBody>
          <a:bodyPr wrap="square" lIns="0" tIns="0" rIns="0" bIns="0" rtlCol="0" anchor="ctr"/>
          <a:lstStyle/>
          <a:p>
            <a:pPr indent="0" marL="0">
              <a:buNone/>
            </a:pPr>
            <a:r>
              <a:rPr lang="en-US" sz="1400" b="1" dirty="0">
                <a:solidFill>
                  <a:srgbClr val="1E2340"/>
                </a:solidFill>
                <a:latin typeface="Calibri" pitchFamily="34" charset="0"/>
                <a:ea typeface="Calibri" pitchFamily="34" charset="-122"/>
                <a:cs typeface="Calibri" pitchFamily="34" charset="-120"/>
              </a:rPr>
              <a:t>What these platforms have in common</a:t>
            </a:r>
            <a:endParaRPr lang="en-US" sz="1400" dirty="0"/>
          </a:p>
        </p:txBody>
      </p:sp>
      <p:sp>
        <p:nvSpPr>
          <p:cNvPr id="18" name="Shape 16"/>
          <p:cNvSpPr/>
          <p:nvPr/>
        </p:nvSpPr>
        <p:spPr>
          <a:xfrm>
            <a:off x="548640" y="4251960"/>
            <a:ext cx="365760" cy="365760"/>
          </a:xfrm>
          <a:prstGeom prst="ellipse">
            <a:avLst/>
          </a:prstGeom>
          <a:solidFill>
            <a:srgbClr val="FBEAEA"/>
          </a:solidFill>
          <a:ln/>
        </p:spPr>
      </p:sp>
      <p:sp>
        <p:nvSpPr>
          <p:cNvPr id="19" name="Text 17"/>
          <p:cNvSpPr/>
          <p:nvPr/>
        </p:nvSpPr>
        <p:spPr>
          <a:xfrm>
            <a:off x="548640" y="4251960"/>
            <a:ext cx="365760" cy="365760"/>
          </a:xfrm>
          <a:prstGeom prst="rect">
            <a:avLst/>
          </a:prstGeom>
          <a:noFill/>
          <a:ln/>
        </p:spPr>
        <p:txBody>
          <a:bodyPr wrap="square" lIns="0" tIns="0" rIns="0" bIns="0" rtlCol="0" anchor="ctr"/>
          <a:lstStyle/>
          <a:p>
            <a:pPr algn="ctr" indent="0" marL="0">
              <a:buNone/>
            </a:pPr>
            <a:r>
              <a:rPr lang="en-US" sz="1040" dirty="0">
                <a:solidFill>
                  <a:srgbClr val="C0392B"/>
                </a:solidFill>
                <a:latin typeface="Calibri" pitchFamily="34" charset="0"/>
                <a:ea typeface="Calibri" pitchFamily="34" charset="-122"/>
                <a:cs typeface="Calibri" pitchFamily="34" charset="-120"/>
              </a:rPr>
              <a:t>✕</a:t>
            </a:r>
            <a:endParaRPr lang="en-US" sz="1040" dirty="0"/>
          </a:p>
        </p:txBody>
      </p:sp>
      <p:sp>
        <p:nvSpPr>
          <p:cNvPr id="20" name="Text 18"/>
          <p:cNvSpPr/>
          <p:nvPr/>
        </p:nvSpPr>
        <p:spPr>
          <a:xfrm>
            <a:off x="1051560" y="4224528"/>
            <a:ext cx="4937760" cy="457200"/>
          </a:xfrm>
          <a:prstGeom prst="rect">
            <a:avLst/>
          </a:prstGeom>
          <a:noFill/>
          <a:ln/>
        </p:spPr>
        <p:txBody>
          <a:bodyPr wrap="square" lIns="0" tIns="0" rIns="0" bIns="0" rtlCol="0" anchor="ctr"/>
          <a:lstStyle/>
          <a:p>
            <a:pPr indent="0" marL="0">
              <a:buNone/>
            </a:pPr>
            <a:r>
              <a:rPr lang="en-US" sz="1250" dirty="0">
                <a:solidFill>
                  <a:srgbClr val="1E2340"/>
                </a:solidFill>
                <a:latin typeface="Calibri" pitchFamily="34" charset="0"/>
                <a:ea typeface="Calibri" pitchFamily="34" charset="-122"/>
                <a:cs typeface="Calibri" pitchFamily="34" charset="-120"/>
              </a:rPr>
              <a:t>Primarily mobile-focused, requiring installation</a:t>
            </a:r>
            <a:endParaRPr lang="en-US" sz="1250" dirty="0"/>
          </a:p>
        </p:txBody>
      </p:sp>
      <p:sp>
        <p:nvSpPr>
          <p:cNvPr id="21" name="Shape 19"/>
          <p:cNvSpPr/>
          <p:nvPr/>
        </p:nvSpPr>
        <p:spPr>
          <a:xfrm>
            <a:off x="6126480" y="4251960"/>
            <a:ext cx="365760" cy="365760"/>
          </a:xfrm>
          <a:prstGeom prst="ellipse">
            <a:avLst/>
          </a:prstGeom>
          <a:solidFill>
            <a:srgbClr val="FBEAEA"/>
          </a:solidFill>
          <a:ln/>
        </p:spPr>
      </p:sp>
      <p:sp>
        <p:nvSpPr>
          <p:cNvPr id="22" name="Text 20"/>
          <p:cNvSpPr/>
          <p:nvPr/>
        </p:nvSpPr>
        <p:spPr>
          <a:xfrm>
            <a:off x="6126480" y="4251960"/>
            <a:ext cx="365760" cy="365760"/>
          </a:xfrm>
          <a:prstGeom prst="rect">
            <a:avLst/>
          </a:prstGeom>
          <a:noFill/>
          <a:ln/>
        </p:spPr>
        <p:txBody>
          <a:bodyPr wrap="square" lIns="0" tIns="0" rIns="0" bIns="0" rtlCol="0" anchor="ctr"/>
          <a:lstStyle/>
          <a:p>
            <a:pPr algn="ctr" indent="0" marL="0">
              <a:buNone/>
            </a:pPr>
            <a:r>
              <a:rPr lang="en-US" sz="1040" dirty="0">
                <a:solidFill>
                  <a:srgbClr val="C0392B"/>
                </a:solidFill>
                <a:latin typeface="Calibri" pitchFamily="34" charset="0"/>
                <a:ea typeface="Calibri" pitchFamily="34" charset="-122"/>
                <a:cs typeface="Calibri" pitchFamily="34" charset="-120"/>
              </a:rPr>
              <a:t>✕</a:t>
            </a:r>
            <a:endParaRPr lang="en-US" sz="1040" dirty="0"/>
          </a:p>
        </p:txBody>
      </p:sp>
      <p:sp>
        <p:nvSpPr>
          <p:cNvPr id="23" name="Text 21"/>
          <p:cNvSpPr/>
          <p:nvPr/>
        </p:nvSpPr>
        <p:spPr>
          <a:xfrm>
            <a:off x="6629400" y="4224528"/>
            <a:ext cx="4937760" cy="457200"/>
          </a:xfrm>
          <a:prstGeom prst="rect">
            <a:avLst/>
          </a:prstGeom>
          <a:noFill/>
          <a:ln/>
        </p:spPr>
        <p:txBody>
          <a:bodyPr wrap="square" lIns="0" tIns="0" rIns="0" bIns="0" rtlCol="0" anchor="ctr"/>
          <a:lstStyle/>
          <a:p>
            <a:pPr indent="0" marL="0">
              <a:buNone/>
            </a:pPr>
            <a:r>
              <a:rPr lang="en-US" sz="1250" dirty="0">
                <a:solidFill>
                  <a:srgbClr val="1E2340"/>
                </a:solidFill>
                <a:latin typeface="Calibri" pitchFamily="34" charset="0"/>
                <a:ea typeface="Calibri" pitchFamily="34" charset="-122"/>
                <a:cs typeface="Calibri" pitchFamily="34" charset="-120"/>
              </a:rPr>
              <a:t>Proprietary, closed-source architectures</a:t>
            </a:r>
            <a:endParaRPr lang="en-US" sz="1250" dirty="0"/>
          </a:p>
        </p:txBody>
      </p:sp>
      <p:sp>
        <p:nvSpPr>
          <p:cNvPr id="24" name="Shape 22"/>
          <p:cNvSpPr/>
          <p:nvPr/>
        </p:nvSpPr>
        <p:spPr>
          <a:xfrm>
            <a:off x="548640" y="4892040"/>
            <a:ext cx="365760" cy="365760"/>
          </a:xfrm>
          <a:prstGeom prst="ellipse">
            <a:avLst/>
          </a:prstGeom>
          <a:solidFill>
            <a:srgbClr val="FBEAEA"/>
          </a:solidFill>
          <a:ln/>
        </p:spPr>
      </p:sp>
      <p:sp>
        <p:nvSpPr>
          <p:cNvPr id="25" name="Text 23"/>
          <p:cNvSpPr/>
          <p:nvPr/>
        </p:nvSpPr>
        <p:spPr>
          <a:xfrm>
            <a:off x="548640" y="4892040"/>
            <a:ext cx="365760" cy="365760"/>
          </a:xfrm>
          <a:prstGeom prst="rect">
            <a:avLst/>
          </a:prstGeom>
          <a:noFill/>
          <a:ln/>
        </p:spPr>
        <p:txBody>
          <a:bodyPr wrap="square" lIns="0" tIns="0" rIns="0" bIns="0" rtlCol="0" anchor="ctr"/>
          <a:lstStyle/>
          <a:p>
            <a:pPr algn="ctr" indent="0" marL="0">
              <a:buNone/>
            </a:pPr>
            <a:r>
              <a:rPr lang="en-US" sz="1040" dirty="0">
                <a:solidFill>
                  <a:srgbClr val="C0392B"/>
                </a:solidFill>
                <a:latin typeface="Calibri" pitchFamily="34" charset="0"/>
                <a:ea typeface="Calibri" pitchFamily="34" charset="-122"/>
                <a:cs typeface="Calibri" pitchFamily="34" charset="-120"/>
              </a:rPr>
              <a:t>✕</a:t>
            </a:r>
            <a:endParaRPr lang="en-US" sz="1040" dirty="0"/>
          </a:p>
        </p:txBody>
      </p:sp>
      <p:sp>
        <p:nvSpPr>
          <p:cNvPr id="26" name="Text 24"/>
          <p:cNvSpPr/>
          <p:nvPr/>
        </p:nvSpPr>
        <p:spPr>
          <a:xfrm>
            <a:off x="1051560" y="4864608"/>
            <a:ext cx="4937760" cy="457200"/>
          </a:xfrm>
          <a:prstGeom prst="rect">
            <a:avLst/>
          </a:prstGeom>
          <a:noFill/>
          <a:ln/>
        </p:spPr>
        <p:txBody>
          <a:bodyPr wrap="square" lIns="0" tIns="0" rIns="0" bIns="0" rtlCol="0" anchor="ctr"/>
          <a:lstStyle/>
          <a:p>
            <a:pPr indent="0" marL="0">
              <a:buNone/>
            </a:pPr>
            <a:r>
              <a:rPr lang="en-US" sz="1250" dirty="0">
                <a:solidFill>
                  <a:srgbClr val="1E2340"/>
                </a:solidFill>
                <a:latin typeface="Calibri" pitchFamily="34" charset="0"/>
                <a:ea typeface="Calibri" pitchFamily="34" charset="-122"/>
                <a:cs typeface="Calibri" pitchFamily="34" charset="-120"/>
              </a:rPr>
              <a:t>Little insight into internal system design</a:t>
            </a:r>
            <a:endParaRPr lang="en-US" sz="1250" dirty="0"/>
          </a:p>
        </p:txBody>
      </p:sp>
      <p:sp>
        <p:nvSpPr>
          <p:cNvPr id="27" name="Shape 25"/>
          <p:cNvSpPr/>
          <p:nvPr/>
        </p:nvSpPr>
        <p:spPr>
          <a:xfrm>
            <a:off x="6126480" y="4892040"/>
            <a:ext cx="365760" cy="365760"/>
          </a:xfrm>
          <a:prstGeom prst="ellipse">
            <a:avLst/>
          </a:prstGeom>
          <a:solidFill>
            <a:srgbClr val="FBEAEA"/>
          </a:solidFill>
          <a:ln/>
        </p:spPr>
      </p:sp>
      <p:sp>
        <p:nvSpPr>
          <p:cNvPr id="28" name="Text 26"/>
          <p:cNvSpPr/>
          <p:nvPr/>
        </p:nvSpPr>
        <p:spPr>
          <a:xfrm>
            <a:off x="6126480" y="4892040"/>
            <a:ext cx="365760" cy="365760"/>
          </a:xfrm>
          <a:prstGeom prst="rect">
            <a:avLst/>
          </a:prstGeom>
          <a:noFill/>
          <a:ln/>
        </p:spPr>
        <p:txBody>
          <a:bodyPr wrap="square" lIns="0" tIns="0" rIns="0" bIns="0" rtlCol="0" anchor="ctr"/>
          <a:lstStyle/>
          <a:p>
            <a:pPr algn="ctr" indent="0" marL="0">
              <a:buNone/>
            </a:pPr>
            <a:r>
              <a:rPr lang="en-US" sz="1040" dirty="0">
                <a:solidFill>
                  <a:srgbClr val="C0392B"/>
                </a:solidFill>
                <a:latin typeface="Calibri" pitchFamily="34" charset="0"/>
                <a:ea typeface="Calibri" pitchFamily="34" charset="-122"/>
                <a:cs typeface="Calibri" pitchFamily="34" charset="-120"/>
              </a:rPr>
              <a:t>✕</a:t>
            </a:r>
            <a:endParaRPr lang="en-US" sz="1040" dirty="0"/>
          </a:p>
        </p:txBody>
      </p:sp>
      <p:sp>
        <p:nvSpPr>
          <p:cNvPr id="29" name="Text 27"/>
          <p:cNvSpPr/>
          <p:nvPr/>
        </p:nvSpPr>
        <p:spPr>
          <a:xfrm>
            <a:off x="6629400" y="4864608"/>
            <a:ext cx="4937760" cy="457200"/>
          </a:xfrm>
          <a:prstGeom prst="rect">
            <a:avLst/>
          </a:prstGeom>
          <a:noFill/>
          <a:ln/>
        </p:spPr>
        <p:txBody>
          <a:bodyPr wrap="square" lIns="0" tIns="0" rIns="0" bIns="0" rtlCol="0" anchor="ctr"/>
          <a:lstStyle/>
          <a:p>
            <a:pPr indent="0" marL="0">
              <a:buNone/>
            </a:pPr>
            <a:r>
              <a:rPr lang="en-US" sz="1250" dirty="0">
                <a:solidFill>
                  <a:srgbClr val="1E2340"/>
                </a:solidFill>
                <a:latin typeface="Calibri" pitchFamily="34" charset="0"/>
                <a:ea typeface="Calibri" pitchFamily="34" charset="-122"/>
                <a:cs typeface="Calibri" pitchFamily="34" charset="-120"/>
              </a:rPr>
              <a:t>Not built for teaching networking or synchronization concepts</a:t>
            </a:r>
            <a:endParaRPr lang="en-US" sz="1250" dirty="0"/>
          </a:p>
        </p:txBody>
      </p:sp>
      <p:sp>
        <p:nvSpPr>
          <p:cNvPr id="30" name="Text 28"/>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CSE299 Project Proposal  |  Literature Review</a:t>
            </a:r>
            <a:endParaRPr lang="en-US" sz="1000" dirty="0"/>
          </a:p>
        </p:txBody>
      </p:sp>
      <p:sp>
        <p:nvSpPr>
          <p:cNvPr id="31" name="Text 29"/>
          <p:cNvSpPr/>
          <p:nvPr/>
        </p:nvSpPr>
        <p:spPr>
          <a:xfrm>
            <a:off x="11365992"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340"/>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300" b="1" spc="200" kern="0" dirty="0">
                <a:solidFill>
                  <a:srgbClr val="0E7C7B"/>
                </a:solidFill>
                <a:latin typeface="Calibri" pitchFamily="34" charset="0"/>
                <a:ea typeface="Calibri" pitchFamily="34" charset="-122"/>
                <a:cs typeface="Calibri" pitchFamily="34" charset="-120"/>
              </a:rPr>
              <a:t>2.7 MOTIVATION</a:t>
            </a:r>
            <a:endParaRPr lang="en-US" sz="1300" dirty="0"/>
          </a:p>
        </p:txBody>
      </p:sp>
      <p:sp>
        <p:nvSpPr>
          <p:cNvPr id="3" name="Text 1"/>
          <p:cNvSpPr/>
          <p:nvPr/>
        </p:nvSpPr>
        <p:spPr>
          <a:xfrm>
            <a:off x="548640" y="713232"/>
            <a:ext cx="1060704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Research Gap</a:t>
            </a:r>
            <a:endParaRPr lang="en-US" sz="3000" dirty="0"/>
          </a:p>
        </p:txBody>
      </p:sp>
      <p:sp>
        <p:nvSpPr>
          <p:cNvPr id="4" name="Shape 2"/>
          <p:cNvSpPr/>
          <p:nvPr/>
        </p:nvSpPr>
        <p:spPr>
          <a:xfrm>
            <a:off x="11109960" y="502920"/>
            <a:ext cx="164592" cy="164592"/>
          </a:xfrm>
          <a:prstGeom prst="ellipse">
            <a:avLst/>
          </a:prstGeom>
          <a:solidFill>
            <a:srgbClr val="D62828"/>
          </a:solidFill>
          <a:ln/>
        </p:spPr>
      </p:sp>
      <p:sp>
        <p:nvSpPr>
          <p:cNvPr id="5" name="Shape 3"/>
          <p:cNvSpPr/>
          <p:nvPr/>
        </p:nvSpPr>
        <p:spPr>
          <a:xfrm>
            <a:off x="11329416" y="502920"/>
            <a:ext cx="164592" cy="164592"/>
          </a:xfrm>
          <a:prstGeom prst="ellipse">
            <a:avLst/>
          </a:prstGeom>
          <a:solidFill>
            <a:srgbClr val="2A9D8F"/>
          </a:solidFill>
          <a:ln/>
        </p:spPr>
      </p:sp>
      <p:sp>
        <p:nvSpPr>
          <p:cNvPr id="6" name="Shape 4"/>
          <p:cNvSpPr/>
          <p:nvPr/>
        </p:nvSpPr>
        <p:spPr>
          <a:xfrm>
            <a:off x="11548872" y="502920"/>
            <a:ext cx="164592" cy="164592"/>
          </a:xfrm>
          <a:prstGeom prst="ellipse">
            <a:avLst/>
          </a:prstGeom>
          <a:solidFill>
            <a:srgbClr val="E9C46A"/>
          </a:solidFill>
          <a:ln/>
        </p:spPr>
      </p:sp>
      <p:sp>
        <p:nvSpPr>
          <p:cNvPr id="7" name="Shape 5"/>
          <p:cNvSpPr/>
          <p:nvPr/>
        </p:nvSpPr>
        <p:spPr>
          <a:xfrm>
            <a:off x="11768328" y="502920"/>
            <a:ext cx="164592" cy="164592"/>
          </a:xfrm>
          <a:prstGeom prst="ellipse">
            <a:avLst/>
          </a:prstGeom>
          <a:solidFill>
            <a:srgbClr val="277DA1"/>
          </a:solidFill>
          <a:ln/>
        </p:spPr>
      </p:sp>
      <p:sp>
        <p:nvSpPr>
          <p:cNvPr id="8" name="Text 6"/>
          <p:cNvSpPr/>
          <p:nvPr/>
        </p:nvSpPr>
        <p:spPr>
          <a:xfrm>
            <a:off x="548640" y="1691640"/>
            <a:ext cx="10698480" cy="685800"/>
          </a:xfrm>
          <a:prstGeom prst="rect">
            <a:avLst/>
          </a:prstGeom>
          <a:noFill/>
          <a:ln/>
        </p:spPr>
        <p:txBody>
          <a:bodyPr wrap="square" lIns="0" tIns="0" rIns="0" bIns="0" rtlCol="0" anchor="ctr"/>
          <a:lstStyle/>
          <a:p>
            <a:pPr indent="0" marL="0">
              <a:lnSpc>
                <a:spcPct val="130000"/>
              </a:lnSpc>
              <a:buNone/>
            </a:pPr>
            <a:r>
              <a:rPr lang="en-US" sz="1600" dirty="0">
                <a:solidFill>
                  <a:srgbClr val="C7CBE8"/>
                </a:solidFill>
                <a:latin typeface="Calibri" pitchFamily="34" charset="0"/>
                <a:ea typeface="Calibri" pitchFamily="34" charset="-122"/>
                <a:cs typeface="Calibri" pitchFamily="34" charset="-120"/>
              </a:rPr>
              <a:t>Although many digital versions of Ludo exist, very few offer an open, educational implementation of a browser-based multiplayer architecture.</a:t>
            </a:r>
            <a:endParaRPr lang="en-US" sz="1600" dirty="0"/>
          </a:p>
        </p:txBody>
      </p:sp>
      <p:sp>
        <p:nvSpPr>
          <p:cNvPr id="9" name="Shape 7"/>
          <p:cNvSpPr/>
          <p:nvPr/>
        </p:nvSpPr>
        <p:spPr>
          <a:xfrm>
            <a:off x="548640" y="2606040"/>
            <a:ext cx="5212080" cy="621792"/>
          </a:xfrm>
          <a:prstGeom prst="roundRect">
            <a:avLst>
              <a:gd name="adj" fmla="val 10294"/>
            </a:avLst>
          </a:prstGeom>
          <a:solidFill>
            <a:srgbClr val="2A2F55"/>
          </a:solidFill>
          <a:ln/>
        </p:spPr>
      </p:sp>
      <p:sp>
        <p:nvSpPr>
          <p:cNvPr id="10" name="Text 8"/>
          <p:cNvSpPr/>
          <p:nvPr/>
        </p:nvSpPr>
        <p:spPr>
          <a:xfrm>
            <a:off x="822960" y="2606040"/>
            <a:ext cx="4754880" cy="62179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Require mobile installation</a:t>
            </a:r>
            <a:endParaRPr lang="en-US" sz="1250" dirty="0"/>
          </a:p>
        </p:txBody>
      </p:sp>
      <p:sp>
        <p:nvSpPr>
          <p:cNvPr id="11" name="Shape 9"/>
          <p:cNvSpPr/>
          <p:nvPr/>
        </p:nvSpPr>
        <p:spPr>
          <a:xfrm>
            <a:off x="6035040" y="2606040"/>
            <a:ext cx="5212080" cy="621792"/>
          </a:xfrm>
          <a:prstGeom prst="roundRect">
            <a:avLst>
              <a:gd name="adj" fmla="val 10294"/>
            </a:avLst>
          </a:prstGeom>
          <a:solidFill>
            <a:srgbClr val="2A2F55"/>
          </a:solidFill>
          <a:ln/>
        </p:spPr>
      </p:sp>
      <p:sp>
        <p:nvSpPr>
          <p:cNvPr id="12" name="Text 10"/>
          <p:cNvSpPr/>
          <p:nvPr/>
        </p:nvSpPr>
        <p:spPr>
          <a:xfrm>
            <a:off x="6309360" y="2606040"/>
            <a:ext cx="4754880" cy="62179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Focus on entertainment, not education</a:t>
            </a:r>
            <a:endParaRPr lang="en-US" sz="1250" dirty="0"/>
          </a:p>
        </p:txBody>
      </p:sp>
      <p:sp>
        <p:nvSpPr>
          <p:cNvPr id="13" name="Shape 11"/>
          <p:cNvSpPr/>
          <p:nvPr/>
        </p:nvSpPr>
        <p:spPr>
          <a:xfrm>
            <a:off x="548640" y="3383280"/>
            <a:ext cx="5212080" cy="621792"/>
          </a:xfrm>
          <a:prstGeom prst="roundRect">
            <a:avLst>
              <a:gd name="adj" fmla="val 10294"/>
            </a:avLst>
          </a:prstGeom>
          <a:solidFill>
            <a:srgbClr val="2A2F55"/>
          </a:solidFill>
          <a:ln/>
        </p:spPr>
      </p:sp>
      <p:sp>
        <p:nvSpPr>
          <p:cNvPr id="14" name="Text 12"/>
          <p:cNvSpPr/>
          <p:nvPr/>
        </p:nvSpPr>
        <p:spPr>
          <a:xfrm>
            <a:off x="822960" y="3383280"/>
            <a:ext cx="4754880" cy="62179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Do not explain their networking architecture</a:t>
            </a:r>
            <a:endParaRPr lang="en-US" sz="1250" dirty="0"/>
          </a:p>
        </p:txBody>
      </p:sp>
      <p:sp>
        <p:nvSpPr>
          <p:cNvPr id="15" name="Shape 13"/>
          <p:cNvSpPr/>
          <p:nvPr/>
        </p:nvSpPr>
        <p:spPr>
          <a:xfrm>
            <a:off x="6035040" y="3383280"/>
            <a:ext cx="5212080" cy="621792"/>
          </a:xfrm>
          <a:prstGeom prst="roundRect">
            <a:avLst>
              <a:gd name="adj" fmla="val 10294"/>
            </a:avLst>
          </a:prstGeom>
          <a:solidFill>
            <a:srgbClr val="2A2F55"/>
          </a:solidFill>
          <a:ln/>
        </p:spPr>
      </p:sp>
      <p:sp>
        <p:nvSpPr>
          <p:cNvPr id="16" name="Text 14"/>
          <p:cNvSpPr/>
          <p:nvPr/>
        </p:nvSpPr>
        <p:spPr>
          <a:xfrm>
            <a:off x="6309360" y="3383280"/>
            <a:ext cx="4754880" cy="62179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Hide game synchronization logic</a:t>
            </a:r>
            <a:endParaRPr lang="en-US" sz="1250" dirty="0"/>
          </a:p>
        </p:txBody>
      </p:sp>
      <p:sp>
        <p:nvSpPr>
          <p:cNvPr id="17" name="Shape 15"/>
          <p:cNvSpPr/>
          <p:nvPr/>
        </p:nvSpPr>
        <p:spPr>
          <a:xfrm>
            <a:off x="548640" y="4160520"/>
            <a:ext cx="5212080" cy="621792"/>
          </a:xfrm>
          <a:prstGeom prst="roundRect">
            <a:avLst>
              <a:gd name="adj" fmla="val 10294"/>
            </a:avLst>
          </a:prstGeom>
          <a:solidFill>
            <a:srgbClr val="2A2F55"/>
          </a:solidFill>
          <a:ln/>
        </p:spPr>
      </p:sp>
      <p:sp>
        <p:nvSpPr>
          <p:cNvPr id="18" name="Text 16"/>
          <p:cNvSpPr/>
          <p:nvPr/>
        </p:nvSpPr>
        <p:spPr>
          <a:xfrm>
            <a:off x="822960" y="4160520"/>
            <a:ext cx="4754880" cy="62179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Offer limited browser compatibility</a:t>
            </a:r>
            <a:endParaRPr lang="en-US" sz="1250" dirty="0"/>
          </a:p>
        </p:txBody>
      </p:sp>
      <p:sp>
        <p:nvSpPr>
          <p:cNvPr id="19" name="Shape 17"/>
          <p:cNvSpPr/>
          <p:nvPr/>
        </p:nvSpPr>
        <p:spPr>
          <a:xfrm>
            <a:off x="6035040" y="4160520"/>
            <a:ext cx="5212080" cy="621792"/>
          </a:xfrm>
          <a:prstGeom prst="roundRect">
            <a:avLst>
              <a:gd name="adj" fmla="val 10294"/>
            </a:avLst>
          </a:prstGeom>
          <a:solidFill>
            <a:srgbClr val="2A2F55"/>
          </a:solidFill>
          <a:ln/>
        </p:spPr>
      </p:sp>
      <p:sp>
        <p:nvSpPr>
          <p:cNvPr id="20" name="Text 18"/>
          <p:cNvSpPr/>
          <p:nvPr/>
        </p:nvSpPr>
        <p:spPr>
          <a:xfrm>
            <a:off x="6309360" y="4160520"/>
            <a:ext cx="4754880" cy="62179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Document little about scalability or server-side validation</a:t>
            </a:r>
            <a:endParaRPr lang="en-US" sz="1250" dirty="0"/>
          </a:p>
        </p:txBody>
      </p:sp>
      <p:sp>
        <p:nvSpPr>
          <p:cNvPr id="21" name="Shape 19"/>
          <p:cNvSpPr/>
          <p:nvPr/>
        </p:nvSpPr>
        <p:spPr>
          <a:xfrm>
            <a:off x="548640" y="5486400"/>
            <a:ext cx="11091672" cy="822960"/>
          </a:xfrm>
          <a:prstGeom prst="roundRect">
            <a:avLst>
              <a:gd name="adj" fmla="val 8889"/>
            </a:avLst>
          </a:prstGeom>
          <a:solidFill>
            <a:srgbClr val="F2A541"/>
          </a:solidFill>
          <a:ln/>
        </p:spPr>
      </p:sp>
      <p:sp>
        <p:nvSpPr>
          <p:cNvPr id="22" name="Text 20"/>
          <p:cNvSpPr/>
          <p:nvPr/>
        </p:nvSpPr>
        <p:spPr>
          <a:xfrm>
            <a:off x="868680" y="5486400"/>
            <a:ext cx="10515600" cy="822960"/>
          </a:xfrm>
          <a:prstGeom prst="rect">
            <a:avLst/>
          </a:prstGeom>
          <a:noFill/>
          <a:ln/>
        </p:spPr>
        <p:txBody>
          <a:bodyPr wrap="square" lIns="0" tIns="0" rIns="0" bIns="0" rtlCol="0" anchor="ctr"/>
          <a:lstStyle/>
          <a:p>
            <a:pPr indent="0" marL="0">
              <a:lnSpc>
                <a:spcPct val="120000"/>
              </a:lnSpc>
              <a:buNone/>
            </a:pPr>
            <a:r>
              <a:rPr lang="en-US" sz="1350" b="1" dirty="0">
                <a:solidFill>
                  <a:srgbClr val="1E2340"/>
                </a:solidFill>
                <a:latin typeface="Calibri" pitchFamily="34" charset="0"/>
                <a:ea typeface="Calibri" pitchFamily="34" charset="-122"/>
                <a:cs typeface="Calibri" pitchFamily="34" charset="-120"/>
              </a:rPr>
              <a:t>Opportunity: a browser-based, multiplayer Ludo game that demonstrates modern software engineering practices while remaining accessible across platforms.</a:t>
            </a:r>
            <a:endParaRPr lang="en-US" sz="1350" dirty="0"/>
          </a:p>
        </p:txBody>
      </p:sp>
      <p:sp>
        <p:nvSpPr>
          <p:cNvPr id="23" name="Text 21"/>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9AA0C0"/>
                </a:solidFill>
                <a:latin typeface="Calibri" pitchFamily="34" charset="0"/>
                <a:ea typeface="Calibri" pitchFamily="34" charset="-122"/>
                <a:cs typeface="Calibri" pitchFamily="34" charset="-120"/>
              </a:rPr>
              <a:t>CSE299 Project Proposal  |  Literature Review</a:t>
            </a:r>
            <a:endParaRPr lang="en-US" sz="1000" dirty="0"/>
          </a:p>
        </p:txBody>
      </p:sp>
      <p:sp>
        <p:nvSpPr>
          <p:cNvPr id="24" name="Text 22"/>
          <p:cNvSpPr/>
          <p:nvPr/>
        </p:nvSpPr>
        <p:spPr>
          <a:xfrm>
            <a:off x="11365992" y="6473952"/>
            <a:ext cx="457200" cy="274320"/>
          </a:xfrm>
          <a:prstGeom prst="rect">
            <a:avLst/>
          </a:prstGeom>
          <a:noFill/>
          <a:ln/>
        </p:spPr>
        <p:txBody>
          <a:bodyPr wrap="square" lIns="0" tIns="0" rIns="0" bIns="0" rtlCol="0" anchor="ctr"/>
          <a:lstStyle/>
          <a:p>
            <a:pPr algn="r" indent="0" marL="0">
              <a:buNone/>
            </a:pPr>
            <a:r>
              <a:rPr lang="en-US" sz="1000" dirty="0">
                <a:solidFill>
                  <a:srgbClr val="9AA0C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300" b="1" spc="200" kern="0" dirty="0">
                <a:solidFill>
                  <a:srgbClr val="0E7C7B"/>
                </a:solidFill>
                <a:latin typeface="Calibri" pitchFamily="34" charset="0"/>
                <a:ea typeface="Calibri" pitchFamily="34" charset="-122"/>
                <a:cs typeface="Calibri" pitchFamily="34" charset="-120"/>
              </a:rPr>
              <a:t>2.8 SUMMARY</a:t>
            </a:r>
            <a:endParaRPr lang="en-US" sz="1300" dirty="0"/>
          </a:p>
        </p:txBody>
      </p:sp>
      <p:sp>
        <p:nvSpPr>
          <p:cNvPr id="3" name="Text 1"/>
          <p:cNvSpPr/>
          <p:nvPr/>
        </p:nvSpPr>
        <p:spPr>
          <a:xfrm>
            <a:off x="548640" y="713232"/>
            <a:ext cx="10607040" cy="685800"/>
          </a:xfrm>
          <a:prstGeom prst="rect">
            <a:avLst/>
          </a:prstGeom>
          <a:noFill/>
          <a:ln/>
        </p:spPr>
        <p:txBody>
          <a:bodyPr wrap="square" lIns="0" tIns="0" rIns="0" bIns="0" rtlCol="0" anchor="ctr"/>
          <a:lstStyle/>
          <a:p>
            <a:pPr indent="0" marL="0">
              <a:buNone/>
            </a:pPr>
            <a:r>
              <a:rPr lang="en-US" sz="3000" b="1" dirty="0">
                <a:solidFill>
                  <a:srgbClr val="1E2340"/>
                </a:solidFill>
                <a:latin typeface="Cambria" pitchFamily="34" charset="0"/>
                <a:ea typeface="Cambria" pitchFamily="34" charset="-122"/>
                <a:cs typeface="Cambria" pitchFamily="34" charset="-120"/>
              </a:rPr>
              <a:t>From Literature to Proposed System</a:t>
            </a:r>
            <a:endParaRPr lang="en-US" sz="3000" dirty="0"/>
          </a:p>
        </p:txBody>
      </p:sp>
      <p:sp>
        <p:nvSpPr>
          <p:cNvPr id="4" name="Shape 2"/>
          <p:cNvSpPr/>
          <p:nvPr/>
        </p:nvSpPr>
        <p:spPr>
          <a:xfrm>
            <a:off x="11109960" y="502920"/>
            <a:ext cx="164592" cy="164592"/>
          </a:xfrm>
          <a:prstGeom prst="ellipse">
            <a:avLst/>
          </a:prstGeom>
          <a:solidFill>
            <a:srgbClr val="D62828"/>
          </a:solidFill>
          <a:ln/>
        </p:spPr>
      </p:sp>
      <p:sp>
        <p:nvSpPr>
          <p:cNvPr id="5" name="Shape 3"/>
          <p:cNvSpPr/>
          <p:nvPr/>
        </p:nvSpPr>
        <p:spPr>
          <a:xfrm>
            <a:off x="11329416" y="502920"/>
            <a:ext cx="164592" cy="164592"/>
          </a:xfrm>
          <a:prstGeom prst="ellipse">
            <a:avLst/>
          </a:prstGeom>
          <a:solidFill>
            <a:srgbClr val="2A9D8F"/>
          </a:solidFill>
          <a:ln/>
        </p:spPr>
      </p:sp>
      <p:sp>
        <p:nvSpPr>
          <p:cNvPr id="6" name="Shape 4"/>
          <p:cNvSpPr/>
          <p:nvPr/>
        </p:nvSpPr>
        <p:spPr>
          <a:xfrm>
            <a:off x="11548872" y="502920"/>
            <a:ext cx="164592" cy="164592"/>
          </a:xfrm>
          <a:prstGeom prst="ellipse">
            <a:avLst/>
          </a:prstGeom>
          <a:solidFill>
            <a:srgbClr val="E9C46A"/>
          </a:solidFill>
          <a:ln/>
        </p:spPr>
      </p:sp>
      <p:sp>
        <p:nvSpPr>
          <p:cNvPr id="7" name="Shape 5"/>
          <p:cNvSpPr/>
          <p:nvPr/>
        </p:nvSpPr>
        <p:spPr>
          <a:xfrm>
            <a:off x="11768328" y="502920"/>
            <a:ext cx="164592" cy="164592"/>
          </a:xfrm>
          <a:prstGeom prst="ellipse">
            <a:avLst/>
          </a:prstGeom>
          <a:solidFill>
            <a:srgbClr val="277DA1"/>
          </a:solidFill>
          <a:ln/>
        </p:spPr>
      </p:sp>
      <p:sp>
        <p:nvSpPr>
          <p:cNvPr id="8" name="Text 6"/>
          <p:cNvSpPr/>
          <p:nvPr/>
        </p:nvSpPr>
        <p:spPr>
          <a:xfrm>
            <a:off x="548640" y="1645920"/>
            <a:ext cx="10698480" cy="457200"/>
          </a:xfrm>
          <a:prstGeom prst="rect">
            <a:avLst/>
          </a:prstGeom>
          <a:noFill/>
          <a:ln/>
        </p:spPr>
        <p:txBody>
          <a:bodyPr wrap="square" lIns="0" tIns="0" rIns="0" bIns="0" rtlCol="0" anchor="ctr"/>
          <a:lstStyle/>
          <a:p>
            <a:pPr indent="0" marL="0">
              <a:buNone/>
            </a:pPr>
            <a:r>
              <a:rPr lang="en-US" sz="1500" dirty="0">
                <a:solidFill>
                  <a:srgbClr val="1E2340"/>
                </a:solidFill>
                <a:latin typeface="Calibri" pitchFamily="34" charset="0"/>
                <a:ea typeface="Calibri" pitchFamily="34" charset="-122"/>
                <a:cs typeface="Calibri" pitchFamily="34" charset="-120"/>
              </a:rPr>
              <a:t>The reviewed literature shows that modern multiplayer board games depend on four pillars working together:</a:t>
            </a:r>
            <a:endParaRPr lang="en-US" sz="1500" dirty="0"/>
          </a:p>
        </p:txBody>
      </p:sp>
      <p:sp>
        <p:nvSpPr>
          <p:cNvPr id="9" name="Shape 7"/>
          <p:cNvSpPr/>
          <p:nvPr/>
        </p:nvSpPr>
        <p:spPr>
          <a:xfrm>
            <a:off x="539496" y="2331720"/>
            <a:ext cx="2606040" cy="1737360"/>
          </a:xfrm>
          <a:prstGeom prst="roundRect">
            <a:avLst>
              <a:gd name="adj" fmla="val 4211"/>
            </a:avLst>
          </a:prstGeom>
          <a:solidFill>
            <a:srgbClr val="FFFFFF"/>
          </a:solidFill>
          <a:ln/>
          <a:effectLst>
            <a:outerShdw sx="100000" sy="100000" kx="0" ky="0" algn="bl" rotWithShape="0" blurRad="76200" dist="25400" dir="5400000">
              <a:srgbClr val="1E2340">
                <a:alpha val="12000"/>
              </a:srgbClr>
            </a:outerShdw>
          </a:effectLst>
        </p:spPr>
      </p:sp>
      <p:sp>
        <p:nvSpPr>
          <p:cNvPr id="10" name="Shape 8"/>
          <p:cNvSpPr/>
          <p:nvPr/>
        </p:nvSpPr>
        <p:spPr>
          <a:xfrm>
            <a:off x="1522476" y="2560320"/>
            <a:ext cx="640080" cy="640080"/>
          </a:xfrm>
          <a:prstGeom prst="ellipse">
            <a:avLst/>
          </a:prstGeom>
          <a:solidFill>
            <a:srgbClr val="0E7C7B"/>
          </a:solidFill>
          <a:ln/>
        </p:spPr>
      </p:sp>
      <p:sp>
        <p:nvSpPr>
          <p:cNvPr id="11" name="Text 9"/>
          <p:cNvSpPr/>
          <p:nvPr/>
        </p:nvSpPr>
        <p:spPr>
          <a:xfrm>
            <a:off x="1522476" y="2560320"/>
            <a:ext cx="640080" cy="640080"/>
          </a:xfrm>
          <a:prstGeom prst="rect">
            <a:avLst/>
          </a:prstGeom>
          <a:noFill/>
          <a:ln/>
        </p:spPr>
        <p:txBody>
          <a:bodyPr wrap="square" lIns="0" tIns="0" rIns="0" bIns="0" rtlCol="0" anchor="ctr"/>
          <a:lstStyle/>
          <a:p>
            <a:pPr algn="ctr" indent="0" marL="0">
              <a:buNone/>
            </a:pPr>
            <a:r>
              <a:rPr lang="en-US" sz="1820" dirty="0">
                <a:solidFill>
                  <a:srgbClr val="FFFFFF"/>
                </a:solidFill>
                <a:latin typeface="Calibri" pitchFamily="34" charset="0"/>
                <a:ea typeface="Calibri" pitchFamily="34" charset="-122"/>
                <a:cs typeface="Calibri" pitchFamily="34" charset="-120"/>
              </a:rPr>
              <a:t>▦</a:t>
            </a:r>
            <a:endParaRPr lang="en-US" sz="1820" dirty="0"/>
          </a:p>
        </p:txBody>
      </p:sp>
      <p:sp>
        <p:nvSpPr>
          <p:cNvPr id="12" name="Text 10"/>
          <p:cNvSpPr/>
          <p:nvPr/>
        </p:nvSpPr>
        <p:spPr>
          <a:xfrm>
            <a:off x="676656" y="3291840"/>
            <a:ext cx="2331720" cy="365760"/>
          </a:xfrm>
          <a:prstGeom prst="rect">
            <a:avLst/>
          </a:prstGeom>
          <a:noFill/>
          <a:ln/>
        </p:spPr>
        <p:txBody>
          <a:bodyPr wrap="square" lIns="0" tIns="0" rIns="0" bIns="0" rtlCol="0" anchor="ctr"/>
          <a:lstStyle/>
          <a:p>
            <a:pPr algn="ctr" indent="0" marL="0">
              <a:buNone/>
            </a:pPr>
            <a:r>
              <a:rPr lang="en-US" sz="1250" b="1" dirty="0">
                <a:solidFill>
                  <a:srgbClr val="1E2340"/>
                </a:solidFill>
                <a:latin typeface="Calibri" pitchFamily="34" charset="0"/>
                <a:ea typeface="Calibri" pitchFamily="34" charset="-122"/>
                <a:cs typeface="Calibri" pitchFamily="34" charset="-120"/>
              </a:rPr>
              <a:t>Responsive Web Interfaces</a:t>
            </a:r>
            <a:endParaRPr lang="en-US" sz="1250" dirty="0"/>
          </a:p>
        </p:txBody>
      </p:sp>
      <p:sp>
        <p:nvSpPr>
          <p:cNvPr id="13" name="Text 11"/>
          <p:cNvSpPr/>
          <p:nvPr/>
        </p:nvSpPr>
        <p:spPr>
          <a:xfrm>
            <a:off x="676656" y="3630168"/>
            <a:ext cx="2331720" cy="411480"/>
          </a:xfrm>
          <a:prstGeom prst="rect">
            <a:avLst/>
          </a:prstGeom>
          <a:noFill/>
          <a:ln/>
        </p:spPr>
        <p:txBody>
          <a:bodyPr wrap="square" lIns="0" tIns="0" rIns="0" bIns="0" rtlCol="0" anchor="ctr"/>
          <a:lstStyle/>
          <a:p>
            <a:pPr algn="ctr" indent="0" marL="0">
              <a:lnSpc>
                <a:spcPct val="115000"/>
              </a:lnSpc>
              <a:buNone/>
            </a:pPr>
            <a:r>
              <a:rPr lang="en-US" sz="1050" dirty="0">
                <a:solidFill>
                  <a:srgbClr val="6B7280"/>
                </a:solidFill>
                <a:latin typeface="Calibri" pitchFamily="34" charset="0"/>
                <a:ea typeface="Calibri" pitchFamily="34" charset="-122"/>
                <a:cs typeface="Calibri" pitchFamily="34" charset="-120"/>
              </a:rPr>
              <a:t>React + Tailwind for cross-device play</a:t>
            </a:r>
            <a:endParaRPr lang="en-US" sz="1050" dirty="0"/>
          </a:p>
        </p:txBody>
      </p:sp>
      <p:sp>
        <p:nvSpPr>
          <p:cNvPr id="14" name="Shape 12"/>
          <p:cNvSpPr/>
          <p:nvPr/>
        </p:nvSpPr>
        <p:spPr>
          <a:xfrm>
            <a:off x="3374136" y="2331720"/>
            <a:ext cx="2606040" cy="1737360"/>
          </a:xfrm>
          <a:prstGeom prst="roundRect">
            <a:avLst>
              <a:gd name="adj" fmla="val 4211"/>
            </a:avLst>
          </a:prstGeom>
          <a:solidFill>
            <a:srgbClr val="FFFFFF"/>
          </a:solidFill>
          <a:ln/>
          <a:effectLst>
            <a:outerShdw sx="100000" sy="100000" kx="0" ky="0" algn="bl" rotWithShape="0" blurRad="76200" dist="25400" dir="5400000">
              <a:srgbClr val="1E2340">
                <a:alpha val="12000"/>
              </a:srgbClr>
            </a:outerShdw>
          </a:effectLst>
        </p:spPr>
      </p:sp>
      <p:sp>
        <p:nvSpPr>
          <p:cNvPr id="15" name="Shape 13"/>
          <p:cNvSpPr/>
          <p:nvPr/>
        </p:nvSpPr>
        <p:spPr>
          <a:xfrm>
            <a:off x="4357116" y="2560320"/>
            <a:ext cx="640080" cy="640080"/>
          </a:xfrm>
          <a:prstGeom prst="ellipse">
            <a:avLst/>
          </a:prstGeom>
          <a:solidFill>
            <a:srgbClr val="0E7C7B"/>
          </a:solidFill>
          <a:ln/>
        </p:spPr>
      </p:sp>
      <p:sp>
        <p:nvSpPr>
          <p:cNvPr id="16" name="Text 14"/>
          <p:cNvSpPr/>
          <p:nvPr/>
        </p:nvSpPr>
        <p:spPr>
          <a:xfrm>
            <a:off x="4357116" y="2560320"/>
            <a:ext cx="640080" cy="640080"/>
          </a:xfrm>
          <a:prstGeom prst="rect">
            <a:avLst/>
          </a:prstGeom>
          <a:noFill/>
          <a:ln/>
        </p:spPr>
        <p:txBody>
          <a:bodyPr wrap="square" lIns="0" tIns="0" rIns="0" bIns="0" rtlCol="0" anchor="ctr"/>
          <a:lstStyle/>
          <a:p>
            <a:pPr algn="ctr" indent="0" marL="0">
              <a:buNone/>
            </a:pPr>
            <a:r>
              <a:rPr lang="en-US" sz="1820" dirty="0">
                <a:solidFill>
                  <a:srgbClr val="FFFFFF"/>
                </a:solidFill>
                <a:latin typeface="Calibri" pitchFamily="34" charset="0"/>
                <a:ea typeface="Calibri" pitchFamily="34" charset="-122"/>
                <a:cs typeface="Calibri" pitchFamily="34" charset="-120"/>
              </a:rPr>
              <a:t>⇄</a:t>
            </a:r>
            <a:endParaRPr lang="en-US" sz="1820" dirty="0"/>
          </a:p>
        </p:txBody>
      </p:sp>
      <p:sp>
        <p:nvSpPr>
          <p:cNvPr id="17" name="Text 15"/>
          <p:cNvSpPr/>
          <p:nvPr/>
        </p:nvSpPr>
        <p:spPr>
          <a:xfrm>
            <a:off x="3511296" y="3291840"/>
            <a:ext cx="2331720" cy="365760"/>
          </a:xfrm>
          <a:prstGeom prst="rect">
            <a:avLst/>
          </a:prstGeom>
          <a:noFill/>
          <a:ln/>
        </p:spPr>
        <p:txBody>
          <a:bodyPr wrap="square" lIns="0" tIns="0" rIns="0" bIns="0" rtlCol="0" anchor="ctr"/>
          <a:lstStyle/>
          <a:p>
            <a:pPr algn="ctr" indent="0" marL="0">
              <a:buNone/>
            </a:pPr>
            <a:r>
              <a:rPr lang="en-US" sz="1250" b="1" dirty="0">
                <a:solidFill>
                  <a:srgbClr val="1E2340"/>
                </a:solidFill>
                <a:latin typeface="Calibri" pitchFamily="34" charset="0"/>
                <a:ea typeface="Calibri" pitchFamily="34" charset="-122"/>
                <a:cs typeface="Calibri" pitchFamily="34" charset="-120"/>
              </a:rPr>
              <a:t>WebSocket Communication</a:t>
            </a:r>
            <a:endParaRPr lang="en-US" sz="1250" dirty="0"/>
          </a:p>
        </p:txBody>
      </p:sp>
      <p:sp>
        <p:nvSpPr>
          <p:cNvPr id="18" name="Text 16"/>
          <p:cNvSpPr/>
          <p:nvPr/>
        </p:nvSpPr>
        <p:spPr>
          <a:xfrm>
            <a:off x="3511296" y="3630168"/>
            <a:ext cx="2331720" cy="411480"/>
          </a:xfrm>
          <a:prstGeom prst="rect">
            <a:avLst/>
          </a:prstGeom>
          <a:noFill/>
          <a:ln/>
        </p:spPr>
        <p:txBody>
          <a:bodyPr wrap="square" lIns="0" tIns="0" rIns="0" bIns="0" rtlCol="0" anchor="ctr"/>
          <a:lstStyle/>
          <a:p>
            <a:pPr algn="ctr" indent="0" marL="0">
              <a:lnSpc>
                <a:spcPct val="115000"/>
              </a:lnSpc>
              <a:buNone/>
            </a:pPr>
            <a:r>
              <a:rPr lang="en-US" sz="1050" dirty="0">
                <a:solidFill>
                  <a:srgbClr val="6B7280"/>
                </a:solidFill>
                <a:latin typeface="Calibri" pitchFamily="34" charset="0"/>
                <a:ea typeface="Calibri" pitchFamily="34" charset="-122"/>
                <a:cs typeface="Calibri" pitchFamily="34" charset="-120"/>
              </a:rPr>
              <a:t>Instant, low-latency synchronization</a:t>
            </a:r>
            <a:endParaRPr lang="en-US" sz="1050" dirty="0"/>
          </a:p>
        </p:txBody>
      </p:sp>
      <p:sp>
        <p:nvSpPr>
          <p:cNvPr id="19" name="Shape 17"/>
          <p:cNvSpPr/>
          <p:nvPr/>
        </p:nvSpPr>
        <p:spPr>
          <a:xfrm>
            <a:off x="6208776" y="2331720"/>
            <a:ext cx="2606040" cy="1737360"/>
          </a:xfrm>
          <a:prstGeom prst="roundRect">
            <a:avLst>
              <a:gd name="adj" fmla="val 4211"/>
            </a:avLst>
          </a:prstGeom>
          <a:solidFill>
            <a:srgbClr val="FFFFFF"/>
          </a:solidFill>
          <a:ln/>
          <a:effectLst>
            <a:outerShdw sx="100000" sy="100000" kx="0" ky="0" algn="bl" rotWithShape="0" blurRad="76200" dist="25400" dir="5400000">
              <a:srgbClr val="1E2340">
                <a:alpha val="12000"/>
              </a:srgbClr>
            </a:outerShdw>
          </a:effectLst>
        </p:spPr>
      </p:sp>
      <p:sp>
        <p:nvSpPr>
          <p:cNvPr id="20" name="Shape 18"/>
          <p:cNvSpPr/>
          <p:nvPr/>
        </p:nvSpPr>
        <p:spPr>
          <a:xfrm>
            <a:off x="7191756" y="2560320"/>
            <a:ext cx="640080" cy="640080"/>
          </a:xfrm>
          <a:prstGeom prst="ellipse">
            <a:avLst/>
          </a:prstGeom>
          <a:solidFill>
            <a:srgbClr val="0E7C7B"/>
          </a:solidFill>
          <a:ln/>
        </p:spPr>
      </p:sp>
      <p:sp>
        <p:nvSpPr>
          <p:cNvPr id="21" name="Text 19"/>
          <p:cNvSpPr/>
          <p:nvPr/>
        </p:nvSpPr>
        <p:spPr>
          <a:xfrm>
            <a:off x="7191756" y="2560320"/>
            <a:ext cx="640080" cy="640080"/>
          </a:xfrm>
          <a:prstGeom prst="rect">
            <a:avLst/>
          </a:prstGeom>
          <a:noFill/>
          <a:ln/>
        </p:spPr>
        <p:txBody>
          <a:bodyPr wrap="square" lIns="0" tIns="0" rIns="0" bIns="0" rtlCol="0" anchor="ctr"/>
          <a:lstStyle/>
          <a:p>
            <a:pPr algn="ctr" indent="0" marL="0">
              <a:buNone/>
            </a:pPr>
            <a:r>
              <a:rPr lang="en-US" sz="1820" dirty="0">
                <a:solidFill>
                  <a:srgbClr val="FFFFFF"/>
                </a:solidFill>
                <a:latin typeface="Calibri" pitchFamily="34" charset="0"/>
                <a:ea typeface="Calibri" pitchFamily="34" charset="-122"/>
                <a:cs typeface="Calibri" pitchFamily="34" charset="-120"/>
              </a:rPr>
              <a:t>⚑</a:t>
            </a:r>
            <a:endParaRPr lang="en-US" sz="1820" dirty="0"/>
          </a:p>
        </p:txBody>
      </p:sp>
      <p:sp>
        <p:nvSpPr>
          <p:cNvPr id="22" name="Text 20"/>
          <p:cNvSpPr/>
          <p:nvPr/>
        </p:nvSpPr>
        <p:spPr>
          <a:xfrm>
            <a:off x="6345936" y="3291840"/>
            <a:ext cx="2331720" cy="365760"/>
          </a:xfrm>
          <a:prstGeom prst="rect">
            <a:avLst/>
          </a:prstGeom>
          <a:noFill/>
          <a:ln/>
        </p:spPr>
        <p:txBody>
          <a:bodyPr wrap="square" lIns="0" tIns="0" rIns="0" bIns="0" rtlCol="0" anchor="ctr"/>
          <a:lstStyle/>
          <a:p>
            <a:pPr algn="ctr" indent="0" marL="0">
              <a:buNone/>
            </a:pPr>
            <a:r>
              <a:rPr lang="en-US" sz="1250" b="1" dirty="0">
                <a:solidFill>
                  <a:srgbClr val="1E2340"/>
                </a:solidFill>
                <a:latin typeface="Calibri" pitchFamily="34" charset="0"/>
                <a:ea typeface="Calibri" pitchFamily="34" charset="-122"/>
                <a:cs typeface="Calibri" pitchFamily="34" charset="-120"/>
              </a:rPr>
              <a:t>Server-Authoritative Logic</a:t>
            </a:r>
            <a:endParaRPr lang="en-US" sz="1250" dirty="0"/>
          </a:p>
        </p:txBody>
      </p:sp>
      <p:sp>
        <p:nvSpPr>
          <p:cNvPr id="23" name="Text 21"/>
          <p:cNvSpPr/>
          <p:nvPr/>
        </p:nvSpPr>
        <p:spPr>
          <a:xfrm>
            <a:off x="6345936" y="3630168"/>
            <a:ext cx="2331720" cy="411480"/>
          </a:xfrm>
          <a:prstGeom prst="rect">
            <a:avLst/>
          </a:prstGeom>
          <a:noFill/>
          <a:ln/>
        </p:spPr>
        <p:txBody>
          <a:bodyPr wrap="square" lIns="0" tIns="0" rIns="0" bIns="0" rtlCol="0" anchor="ctr"/>
          <a:lstStyle/>
          <a:p>
            <a:pPr algn="ctr" indent="0" marL="0">
              <a:lnSpc>
                <a:spcPct val="115000"/>
              </a:lnSpc>
              <a:buNone/>
            </a:pPr>
            <a:r>
              <a:rPr lang="en-US" sz="1050" dirty="0">
                <a:solidFill>
                  <a:srgbClr val="6B7280"/>
                </a:solidFill>
                <a:latin typeface="Calibri" pitchFamily="34" charset="0"/>
                <a:ea typeface="Calibri" pitchFamily="34" charset="-122"/>
                <a:cs typeface="Calibri" pitchFamily="34" charset="-120"/>
              </a:rPr>
              <a:t>Fair, tamper-proof gameplay</a:t>
            </a:r>
            <a:endParaRPr lang="en-US" sz="1050" dirty="0"/>
          </a:p>
        </p:txBody>
      </p:sp>
      <p:sp>
        <p:nvSpPr>
          <p:cNvPr id="24" name="Shape 22"/>
          <p:cNvSpPr/>
          <p:nvPr/>
        </p:nvSpPr>
        <p:spPr>
          <a:xfrm>
            <a:off x="9043416" y="2331720"/>
            <a:ext cx="2606040" cy="1737360"/>
          </a:xfrm>
          <a:prstGeom prst="roundRect">
            <a:avLst>
              <a:gd name="adj" fmla="val 4211"/>
            </a:avLst>
          </a:prstGeom>
          <a:solidFill>
            <a:srgbClr val="FFFFFF"/>
          </a:solidFill>
          <a:ln/>
          <a:effectLst>
            <a:outerShdw sx="100000" sy="100000" kx="0" ky="0" algn="bl" rotWithShape="0" blurRad="76200" dist="25400" dir="5400000">
              <a:srgbClr val="1E2340">
                <a:alpha val="12000"/>
              </a:srgbClr>
            </a:outerShdw>
          </a:effectLst>
        </p:spPr>
      </p:sp>
      <p:sp>
        <p:nvSpPr>
          <p:cNvPr id="25" name="Shape 23"/>
          <p:cNvSpPr/>
          <p:nvPr/>
        </p:nvSpPr>
        <p:spPr>
          <a:xfrm>
            <a:off x="10026396" y="2560320"/>
            <a:ext cx="640080" cy="640080"/>
          </a:xfrm>
          <a:prstGeom prst="ellipse">
            <a:avLst/>
          </a:prstGeom>
          <a:solidFill>
            <a:srgbClr val="0E7C7B"/>
          </a:solidFill>
          <a:ln/>
        </p:spPr>
      </p:sp>
      <p:sp>
        <p:nvSpPr>
          <p:cNvPr id="26" name="Text 24"/>
          <p:cNvSpPr/>
          <p:nvPr/>
        </p:nvSpPr>
        <p:spPr>
          <a:xfrm>
            <a:off x="10026396" y="2560320"/>
            <a:ext cx="640080" cy="640080"/>
          </a:xfrm>
          <a:prstGeom prst="rect">
            <a:avLst/>
          </a:prstGeom>
          <a:noFill/>
          <a:ln/>
        </p:spPr>
        <p:txBody>
          <a:bodyPr wrap="square" lIns="0" tIns="0" rIns="0" bIns="0" rtlCol="0" anchor="ctr"/>
          <a:lstStyle/>
          <a:p>
            <a:pPr algn="ctr" indent="0" marL="0">
              <a:buNone/>
            </a:pPr>
            <a:r>
              <a:rPr lang="en-US" sz="1820" dirty="0">
                <a:solidFill>
                  <a:srgbClr val="FFFFFF"/>
                </a:solidFill>
                <a:latin typeface="Calibri" pitchFamily="34" charset="0"/>
                <a:ea typeface="Calibri" pitchFamily="34" charset="-122"/>
                <a:cs typeface="Calibri" pitchFamily="34" charset="-120"/>
              </a:rPr>
              <a:t>▤</a:t>
            </a:r>
            <a:endParaRPr lang="en-US" sz="1820" dirty="0"/>
          </a:p>
        </p:txBody>
      </p:sp>
      <p:sp>
        <p:nvSpPr>
          <p:cNvPr id="27" name="Text 25"/>
          <p:cNvSpPr/>
          <p:nvPr/>
        </p:nvSpPr>
        <p:spPr>
          <a:xfrm>
            <a:off x="9180576" y="3291840"/>
            <a:ext cx="2331720" cy="365760"/>
          </a:xfrm>
          <a:prstGeom prst="rect">
            <a:avLst/>
          </a:prstGeom>
          <a:noFill/>
          <a:ln/>
        </p:spPr>
        <p:txBody>
          <a:bodyPr wrap="square" lIns="0" tIns="0" rIns="0" bIns="0" rtlCol="0" anchor="ctr"/>
          <a:lstStyle/>
          <a:p>
            <a:pPr algn="ctr" indent="0" marL="0">
              <a:buNone/>
            </a:pPr>
            <a:r>
              <a:rPr lang="en-US" sz="1250" b="1" dirty="0">
                <a:solidFill>
                  <a:srgbClr val="1E2340"/>
                </a:solidFill>
                <a:latin typeface="Calibri" pitchFamily="34" charset="0"/>
                <a:ea typeface="Calibri" pitchFamily="34" charset="-122"/>
                <a:cs typeface="Calibri" pitchFamily="34" charset="-120"/>
              </a:rPr>
              <a:t>Scalable Database Systems</a:t>
            </a:r>
            <a:endParaRPr lang="en-US" sz="1250" dirty="0"/>
          </a:p>
        </p:txBody>
      </p:sp>
      <p:sp>
        <p:nvSpPr>
          <p:cNvPr id="28" name="Text 26"/>
          <p:cNvSpPr/>
          <p:nvPr/>
        </p:nvSpPr>
        <p:spPr>
          <a:xfrm>
            <a:off x="9180576" y="3630168"/>
            <a:ext cx="2331720" cy="411480"/>
          </a:xfrm>
          <a:prstGeom prst="rect">
            <a:avLst/>
          </a:prstGeom>
          <a:noFill/>
          <a:ln/>
        </p:spPr>
        <p:txBody>
          <a:bodyPr wrap="square" lIns="0" tIns="0" rIns="0" bIns="0" rtlCol="0" anchor="ctr"/>
          <a:lstStyle/>
          <a:p>
            <a:pPr algn="ctr" indent="0" marL="0">
              <a:lnSpc>
                <a:spcPct val="115000"/>
              </a:lnSpc>
              <a:buNone/>
            </a:pPr>
            <a:r>
              <a:rPr lang="en-US" sz="1050" dirty="0">
                <a:solidFill>
                  <a:srgbClr val="6B7280"/>
                </a:solidFill>
                <a:latin typeface="Calibri" pitchFamily="34" charset="0"/>
                <a:ea typeface="Calibri" pitchFamily="34" charset="-122"/>
                <a:cs typeface="Calibri" pitchFamily="34" charset="-120"/>
              </a:rPr>
              <a:t>MongoDB for accounts &amp; match data</a:t>
            </a:r>
            <a:endParaRPr lang="en-US" sz="1050" dirty="0"/>
          </a:p>
        </p:txBody>
      </p:sp>
      <p:sp>
        <p:nvSpPr>
          <p:cNvPr id="29" name="Text 27"/>
          <p:cNvSpPr/>
          <p:nvPr/>
        </p:nvSpPr>
        <p:spPr>
          <a:xfrm>
            <a:off x="822960" y="4526280"/>
            <a:ext cx="10515600" cy="1005840"/>
          </a:xfrm>
          <a:prstGeom prst="rect">
            <a:avLst/>
          </a:prstGeom>
          <a:noFill/>
          <a:ln/>
        </p:spPr>
        <p:txBody>
          <a:bodyPr wrap="square" lIns="0" tIns="0" rIns="0" bIns="0" rtlCol="0" anchor="ctr"/>
          <a:lstStyle/>
          <a:p>
            <a:pPr algn="ctr" indent="0" marL="0">
              <a:lnSpc>
                <a:spcPct val="130000"/>
              </a:lnSpc>
              <a:buNone/>
            </a:pPr>
            <a:r>
              <a:rPr lang="en-US" sz="1450" i="1" dirty="0">
                <a:solidFill>
                  <a:srgbClr val="1E2340"/>
                </a:solidFill>
                <a:latin typeface="Calibri" pitchFamily="34" charset="0"/>
                <a:ea typeface="Calibri" pitchFamily="34" charset="-122"/>
                <a:cs typeface="Calibri" pitchFamily="34" charset="-120"/>
              </a:rPr>
              <a:t>Building on these foundations, the proposed project implements a real-time, cross-platform Ludo application — combining accessibility, fairness, and modern web development practice as an educational full-stack example.</a:t>
            </a:r>
            <a:endParaRPr lang="en-US" sz="1450" dirty="0"/>
          </a:p>
        </p:txBody>
      </p:sp>
      <p:sp>
        <p:nvSpPr>
          <p:cNvPr id="30" name="Text 28"/>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CSE299 Project Proposal  |  Literature Review</a:t>
            </a:r>
            <a:endParaRPr lang="en-US" sz="1000" dirty="0"/>
          </a:p>
        </p:txBody>
      </p:sp>
      <p:sp>
        <p:nvSpPr>
          <p:cNvPr id="31" name="Text 29"/>
          <p:cNvSpPr/>
          <p:nvPr/>
        </p:nvSpPr>
        <p:spPr>
          <a:xfrm>
            <a:off x="11365992"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300" b="1" spc="200" kern="0" dirty="0">
                <a:solidFill>
                  <a:srgbClr val="0E7C7B"/>
                </a:solidFill>
                <a:latin typeface="Calibri" pitchFamily="34" charset="0"/>
                <a:ea typeface="Calibri" pitchFamily="34" charset="-122"/>
                <a:cs typeface="Calibri" pitchFamily="34" charset="-120"/>
              </a:rPr>
              <a:t>SOURCES</a:t>
            </a:r>
            <a:endParaRPr lang="en-US" sz="1300" dirty="0"/>
          </a:p>
        </p:txBody>
      </p:sp>
      <p:sp>
        <p:nvSpPr>
          <p:cNvPr id="3" name="Text 1"/>
          <p:cNvSpPr/>
          <p:nvPr/>
        </p:nvSpPr>
        <p:spPr>
          <a:xfrm>
            <a:off x="548640" y="713232"/>
            <a:ext cx="10607040" cy="685800"/>
          </a:xfrm>
          <a:prstGeom prst="rect">
            <a:avLst/>
          </a:prstGeom>
          <a:noFill/>
          <a:ln/>
        </p:spPr>
        <p:txBody>
          <a:bodyPr wrap="square" lIns="0" tIns="0" rIns="0" bIns="0" rtlCol="0" anchor="ctr"/>
          <a:lstStyle/>
          <a:p>
            <a:pPr indent="0" marL="0">
              <a:buNone/>
            </a:pPr>
            <a:r>
              <a:rPr lang="en-US" sz="3000" b="1" dirty="0">
                <a:solidFill>
                  <a:srgbClr val="1E2340"/>
                </a:solidFill>
                <a:latin typeface="Cambria" pitchFamily="34" charset="0"/>
                <a:ea typeface="Cambria" pitchFamily="34" charset="-122"/>
                <a:cs typeface="Cambria" pitchFamily="34" charset="-120"/>
              </a:rPr>
              <a:t>References (IEEE Style)</a:t>
            </a:r>
            <a:endParaRPr lang="en-US" sz="3000" dirty="0"/>
          </a:p>
        </p:txBody>
      </p:sp>
      <p:sp>
        <p:nvSpPr>
          <p:cNvPr id="4" name="Shape 2"/>
          <p:cNvSpPr/>
          <p:nvPr/>
        </p:nvSpPr>
        <p:spPr>
          <a:xfrm>
            <a:off x="11109960" y="502920"/>
            <a:ext cx="164592" cy="164592"/>
          </a:xfrm>
          <a:prstGeom prst="ellipse">
            <a:avLst/>
          </a:prstGeom>
          <a:solidFill>
            <a:srgbClr val="D62828"/>
          </a:solidFill>
          <a:ln/>
        </p:spPr>
      </p:sp>
      <p:sp>
        <p:nvSpPr>
          <p:cNvPr id="5" name="Shape 3"/>
          <p:cNvSpPr/>
          <p:nvPr/>
        </p:nvSpPr>
        <p:spPr>
          <a:xfrm>
            <a:off x="11329416" y="502920"/>
            <a:ext cx="164592" cy="164592"/>
          </a:xfrm>
          <a:prstGeom prst="ellipse">
            <a:avLst/>
          </a:prstGeom>
          <a:solidFill>
            <a:srgbClr val="2A9D8F"/>
          </a:solidFill>
          <a:ln/>
        </p:spPr>
      </p:sp>
      <p:sp>
        <p:nvSpPr>
          <p:cNvPr id="6" name="Shape 4"/>
          <p:cNvSpPr/>
          <p:nvPr/>
        </p:nvSpPr>
        <p:spPr>
          <a:xfrm>
            <a:off x="11548872" y="502920"/>
            <a:ext cx="164592" cy="164592"/>
          </a:xfrm>
          <a:prstGeom prst="ellipse">
            <a:avLst/>
          </a:prstGeom>
          <a:solidFill>
            <a:srgbClr val="E9C46A"/>
          </a:solidFill>
          <a:ln/>
        </p:spPr>
      </p:sp>
      <p:sp>
        <p:nvSpPr>
          <p:cNvPr id="7" name="Shape 5"/>
          <p:cNvSpPr/>
          <p:nvPr/>
        </p:nvSpPr>
        <p:spPr>
          <a:xfrm>
            <a:off x="11768328" y="502920"/>
            <a:ext cx="164592" cy="164592"/>
          </a:xfrm>
          <a:prstGeom prst="ellipse">
            <a:avLst/>
          </a:prstGeom>
          <a:solidFill>
            <a:srgbClr val="277DA1"/>
          </a:solidFill>
          <a:ln/>
        </p:spPr>
      </p:sp>
      <p:sp>
        <p:nvSpPr>
          <p:cNvPr id="8" name="Text 6"/>
          <p:cNvSpPr/>
          <p:nvPr/>
        </p:nvSpPr>
        <p:spPr>
          <a:xfrm>
            <a:off x="548640" y="1691640"/>
            <a:ext cx="365760" cy="5029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960120" y="1691640"/>
            <a:ext cx="10241280" cy="502920"/>
          </a:xfrm>
          <a:prstGeom prst="rect">
            <a:avLst/>
          </a:prstGeom>
          <a:noFill/>
          <a:ln/>
        </p:spPr>
        <p:txBody>
          <a:bodyPr wrap="square" lIns="0" tIns="0" rIns="0" bIns="0" rtlCol="0" anchor="t"/>
          <a:lstStyle/>
          <a:p>
            <a:pPr indent="0" marL="0">
              <a:buNone/>
            </a:pPr>
            <a:r>
              <a:rPr lang="en-US" sz="1250" dirty="0">
                <a:solidFill>
                  <a:srgbClr val="1E2340"/>
                </a:solidFill>
                <a:latin typeface="Calibri" pitchFamily="34" charset="0"/>
                <a:ea typeface="Calibri" pitchFamily="34" charset="-122"/>
                <a:cs typeface="Calibri" pitchFamily="34" charset="-120"/>
              </a:rPr>
              <a:t>M. Claypool and K. Claypool, "Latency and Player Actions in Online Games," Communications of the ACM, vol. 49, no. 11, pp. 40–45, 2006.</a:t>
            </a:r>
            <a:endParaRPr lang="en-US" sz="1250" dirty="0"/>
          </a:p>
        </p:txBody>
      </p:sp>
      <p:sp>
        <p:nvSpPr>
          <p:cNvPr id="10" name="Text 8"/>
          <p:cNvSpPr/>
          <p:nvPr/>
        </p:nvSpPr>
        <p:spPr>
          <a:xfrm>
            <a:off x="548640" y="2258568"/>
            <a:ext cx="365760" cy="5029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960120" y="2258568"/>
            <a:ext cx="10241280" cy="502920"/>
          </a:xfrm>
          <a:prstGeom prst="rect">
            <a:avLst/>
          </a:prstGeom>
          <a:noFill/>
          <a:ln/>
        </p:spPr>
        <p:txBody>
          <a:bodyPr wrap="square" lIns="0" tIns="0" rIns="0" bIns="0" rtlCol="0" anchor="t"/>
          <a:lstStyle/>
          <a:p>
            <a:pPr indent="0" marL="0">
              <a:buNone/>
            </a:pPr>
            <a:r>
              <a:rPr lang="en-US" sz="1250" dirty="0">
                <a:solidFill>
                  <a:srgbClr val="1E2340"/>
                </a:solidFill>
                <a:latin typeface="Calibri" pitchFamily="34" charset="0"/>
                <a:ea typeface="Calibri" pitchFamily="34" charset="-122"/>
                <a:cs typeface="Calibri" pitchFamily="34" charset="-120"/>
              </a:rPr>
              <a:t>A. S. Tanenbaum and H. Bos, Distributed Systems: Principles and Paradigms, 3rd ed., Pearson, 2017.</a:t>
            </a:r>
            <a:endParaRPr lang="en-US" sz="1250" dirty="0"/>
          </a:p>
        </p:txBody>
      </p:sp>
      <p:sp>
        <p:nvSpPr>
          <p:cNvPr id="12" name="Text 10"/>
          <p:cNvSpPr/>
          <p:nvPr/>
        </p:nvSpPr>
        <p:spPr>
          <a:xfrm>
            <a:off x="548640" y="2825496"/>
            <a:ext cx="365760" cy="5029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960120" y="2825496"/>
            <a:ext cx="10241280" cy="502920"/>
          </a:xfrm>
          <a:prstGeom prst="rect">
            <a:avLst/>
          </a:prstGeom>
          <a:noFill/>
          <a:ln/>
        </p:spPr>
        <p:txBody>
          <a:bodyPr wrap="square" lIns="0" tIns="0" rIns="0" bIns="0" rtlCol="0" anchor="t"/>
          <a:lstStyle/>
          <a:p>
            <a:pPr indent="0" marL="0">
              <a:buNone/>
            </a:pPr>
            <a:r>
              <a:rPr lang="en-US" sz="1250" dirty="0">
                <a:solidFill>
                  <a:srgbClr val="1E2340"/>
                </a:solidFill>
                <a:latin typeface="Calibri" pitchFamily="34" charset="0"/>
                <a:ea typeface="Calibri" pitchFamily="34" charset="-122"/>
                <a:cs typeface="Calibri" pitchFamily="34" charset="-120"/>
              </a:rPr>
              <a:t>Socket.IO Documentation, socket.io/docs/</a:t>
            </a:r>
            <a:endParaRPr lang="en-US" sz="1250" dirty="0"/>
          </a:p>
        </p:txBody>
      </p:sp>
      <p:sp>
        <p:nvSpPr>
          <p:cNvPr id="14" name="Text 12"/>
          <p:cNvSpPr/>
          <p:nvPr/>
        </p:nvSpPr>
        <p:spPr>
          <a:xfrm>
            <a:off x="548640" y="3392424"/>
            <a:ext cx="365760" cy="5029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960120" y="3392424"/>
            <a:ext cx="10241280" cy="502920"/>
          </a:xfrm>
          <a:prstGeom prst="rect">
            <a:avLst/>
          </a:prstGeom>
          <a:noFill/>
          <a:ln/>
        </p:spPr>
        <p:txBody>
          <a:bodyPr wrap="square" lIns="0" tIns="0" rIns="0" bIns="0" rtlCol="0" anchor="t"/>
          <a:lstStyle/>
          <a:p>
            <a:pPr indent="0" marL="0">
              <a:buNone/>
            </a:pPr>
            <a:r>
              <a:rPr lang="en-US" sz="1250" dirty="0">
                <a:solidFill>
                  <a:srgbClr val="1E2340"/>
                </a:solidFill>
                <a:latin typeface="Calibri" pitchFamily="34" charset="0"/>
                <a:ea typeface="Calibri" pitchFamily="34" charset="-122"/>
                <a:cs typeface="Calibri" pitchFamily="34" charset="-120"/>
              </a:rPr>
              <a:t>React Documentation, react.dev</a:t>
            </a:r>
            <a:endParaRPr lang="en-US" sz="1250" dirty="0"/>
          </a:p>
        </p:txBody>
      </p:sp>
      <p:sp>
        <p:nvSpPr>
          <p:cNvPr id="16" name="Text 14"/>
          <p:cNvSpPr/>
          <p:nvPr/>
        </p:nvSpPr>
        <p:spPr>
          <a:xfrm>
            <a:off x="548640" y="3959352"/>
            <a:ext cx="365760" cy="5029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5.</a:t>
            </a:r>
            <a:endParaRPr lang="en-US" sz="1300" dirty="0"/>
          </a:p>
        </p:txBody>
      </p:sp>
      <p:sp>
        <p:nvSpPr>
          <p:cNvPr id="17" name="Text 15"/>
          <p:cNvSpPr/>
          <p:nvPr/>
        </p:nvSpPr>
        <p:spPr>
          <a:xfrm>
            <a:off x="960120" y="3959352"/>
            <a:ext cx="10241280" cy="502920"/>
          </a:xfrm>
          <a:prstGeom prst="rect">
            <a:avLst/>
          </a:prstGeom>
          <a:noFill/>
          <a:ln/>
        </p:spPr>
        <p:txBody>
          <a:bodyPr wrap="square" lIns="0" tIns="0" rIns="0" bIns="0" rtlCol="0" anchor="t"/>
          <a:lstStyle/>
          <a:p>
            <a:pPr indent="0" marL="0">
              <a:buNone/>
            </a:pPr>
            <a:r>
              <a:rPr lang="en-US" sz="1250" dirty="0">
                <a:solidFill>
                  <a:srgbClr val="1E2340"/>
                </a:solidFill>
                <a:latin typeface="Calibri" pitchFamily="34" charset="0"/>
                <a:ea typeface="Calibri" pitchFamily="34" charset="-122"/>
                <a:cs typeface="Calibri" pitchFamily="34" charset="-120"/>
              </a:rPr>
              <a:t>Node.js Documentation, nodejs.org</a:t>
            </a:r>
            <a:endParaRPr lang="en-US" sz="1250" dirty="0"/>
          </a:p>
        </p:txBody>
      </p:sp>
      <p:sp>
        <p:nvSpPr>
          <p:cNvPr id="18" name="Text 16"/>
          <p:cNvSpPr/>
          <p:nvPr/>
        </p:nvSpPr>
        <p:spPr>
          <a:xfrm>
            <a:off x="548640" y="4526280"/>
            <a:ext cx="365760" cy="5029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6.</a:t>
            </a:r>
            <a:endParaRPr lang="en-US" sz="1300" dirty="0"/>
          </a:p>
        </p:txBody>
      </p:sp>
      <p:sp>
        <p:nvSpPr>
          <p:cNvPr id="19" name="Text 17"/>
          <p:cNvSpPr/>
          <p:nvPr/>
        </p:nvSpPr>
        <p:spPr>
          <a:xfrm>
            <a:off x="960120" y="4526280"/>
            <a:ext cx="10241280" cy="502920"/>
          </a:xfrm>
          <a:prstGeom prst="rect">
            <a:avLst/>
          </a:prstGeom>
          <a:noFill/>
          <a:ln/>
        </p:spPr>
        <p:txBody>
          <a:bodyPr wrap="square" lIns="0" tIns="0" rIns="0" bIns="0" rtlCol="0" anchor="t"/>
          <a:lstStyle/>
          <a:p>
            <a:pPr indent="0" marL="0">
              <a:buNone/>
            </a:pPr>
            <a:r>
              <a:rPr lang="en-US" sz="1250" dirty="0">
                <a:solidFill>
                  <a:srgbClr val="1E2340"/>
                </a:solidFill>
                <a:latin typeface="Calibri" pitchFamily="34" charset="0"/>
                <a:ea typeface="Calibri" pitchFamily="34" charset="-122"/>
                <a:cs typeface="Calibri" pitchFamily="34" charset="-120"/>
              </a:rPr>
              <a:t>MongoDB Documentation, mongodb.com/docs/</a:t>
            </a:r>
            <a:endParaRPr lang="en-US" sz="1250" dirty="0"/>
          </a:p>
        </p:txBody>
      </p:sp>
      <p:sp>
        <p:nvSpPr>
          <p:cNvPr id="20" name="Text 18"/>
          <p:cNvSpPr/>
          <p:nvPr/>
        </p:nvSpPr>
        <p:spPr>
          <a:xfrm>
            <a:off x="548640" y="5093208"/>
            <a:ext cx="365760" cy="5029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7.</a:t>
            </a:r>
            <a:endParaRPr lang="en-US" sz="1300" dirty="0"/>
          </a:p>
        </p:txBody>
      </p:sp>
      <p:sp>
        <p:nvSpPr>
          <p:cNvPr id="21" name="Text 19"/>
          <p:cNvSpPr/>
          <p:nvPr/>
        </p:nvSpPr>
        <p:spPr>
          <a:xfrm>
            <a:off x="960120" y="5093208"/>
            <a:ext cx="10241280" cy="502920"/>
          </a:xfrm>
          <a:prstGeom prst="rect">
            <a:avLst/>
          </a:prstGeom>
          <a:noFill/>
          <a:ln/>
        </p:spPr>
        <p:txBody>
          <a:bodyPr wrap="square" lIns="0" tIns="0" rIns="0" bIns="0" rtlCol="0" anchor="t"/>
          <a:lstStyle/>
          <a:p>
            <a:pPr indent="0" marL="0">
              <a:buNone/>
            </a:pPr>
            <a:r>
              <a:rPr lang="en-US" sz="1250" dirty="0">
                <a:solidFill>
                  <a:srgbClr val="1E2340"/>
                </a:solidFill>
                <a:latin typeface="Calibri" pitchFamily="34" charset="0"/>
                <a:ea typeface="Calibri" pitchFamily="34" charset="-122"/>
                <a:cs typeface="Calibri" pitchFamily="34" charset="-120"/>
              </a:rPr>
              <a:t>RFC 6455: The WebSocket Protocol, Internet Engineering Task Force, 2011.</a:t>
            </a:r>
            <a:endParaRPr lang="en-US" sz="1250" dirty="0"/>
          </a:p>
        </p:txBody>
      </p:sp>
      <p:sp>
        <p:nvSpPr>
          <p:cNvPr id="22" name="Text 20"/>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CSE299 Project Proposal  |  Literature Review</a:t>
            </a:r>
            <a:endParaRPr lang="en-US" sz="1000" dirty="0"/>
          </a:p>
        </p:txBody>
      </p:sp>
      <p:sp>
        <p:nvSpPr>
          <p:cNvPr id="23" name="Text 21"/>
          <p:cNvSpPr/>
          <p:nvPr/>
        </p:nvSpPr>
        <p:spPr>
          <a:xfrm>
            <a:off x="11365992"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340"/>
        </a:solidFill>
      </p:bgPr>
    </p:bg>
    <p:spTree>
      <p:nvGrpSpPr>
        <p:cNvPr id="1" name=""/>
        <p:cNvGrpSpPr/>
        <p:nvPr/>
      </p:nvGrpSpPr>
      <p:grpSpPr>
        <a:xfrm>
          <a:off x="0" y="0"/>
          <a:ext cx="0" cy="0"/>
          <a:chOff x="0" y="0"/>
          <a:chExt cx="0" cy="0"/>
        </a:xfrm>
      </p:grpSpPr>
      <p:sp>
        <p:nvSpPr>
          <p:cNvPr id="2" name="Shape 0"/>
          <p:cNvSpPr/>
          <p:nvPr/>
        </p:nvSpPr>
        <p:spPr>
          <a:xfrm>
            <a:off x="640080" y="548640"/>
            <a:ext cx="164592" cy="164592"/>
          </a:xfrm>
          <a:prstGeom prst="ellipse">
            <a:avLst/>
          </a:prstGeom>
          <a:solidFill>
            <a:srgbClr val="D62828"/>
          </a:solidFill>
          <a:ln/>
        </p:spPr>
      </p:sp>
      <p:sp>
        <p:nvSpPr>
          <p:cNvPr id="3" name="Shape 1"/>
          <p:cNvSpPr/>
          <p:nvPr/>
        </p:nvSpPr>
        <p:spPr>
          <a:xfrm>
            <a:off x="859536" y="548640"/>
            <a:ext cx="164592" cy="164592"/>
          </a:xfrm>
          <a:prstGeom prst="ellipse">
            <a:avLst/>
          </a:prstGeom>
          <a:solidFill>
            <a:srgbClr val="2A9D8F"/>
          </a:solidFill>
          <a:ln/>
        </p:spPr>
      </p:sp>
      <p:sp>
        <p:nvSpPr>
          <p:cNvPr id="4" name="Shape 2"/>
          <p:cNvSpPr/>
          <p:nvPr/>
        </p:nvSpPr>
        <p:spPr>
          <a:xfrm>
            <a:off x="1078992" y="548640"/>
            <a:ext cx="164592" cy="164592"/>
          </a:xfrm>
          <a:prstGeom prst="ellipse">
            <a:avLst/>
          </a:prstGeom>
          <a:solidFill>
            <a:srgbClr val="E9C46A"/>
          </a:solidFill>
          <a:ln/>
        </p:spPr>
      </p:sp>
      <p:sp>
        <p:nvSpPr>
          <p:cNvPr id="5" name="Shape 3"/>
          <p:cNvSpPr/>
          <p:nvPr/>
        </p:nvSpPr>
        <p:spPr>
          <a:xfrm>
            <a:off x="1298448" y="548640"/>
            <a:ext cx="164592" cy="164592"/>
          </a:xfrm>
          <a:prstGeom prst="ellipse">
            <a:avLst/>
          </a:prstGeom>
          <a:solidFill>
            <a:srgbClr val="277DA1"/>
          </a:solidFill>
          <a:ln/>
        </p:spPr>
      </p:sp>
      <p:sp>
        <p:nvSpPr>
          <p:cNvPr id="6" name="Text 4"/>
          <p:cNvSpPr/>
          <p:nvPr/>
        </p:nvSpPr>
        <p:spPr>
          <a:xfrm>
            <a:off x="640080" y="2651760"/>
            <a:ext cx="914400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7" name="Text 5"/>
          <p:cNvSpPr/>
          <p:nvPr/>
        </p:nvSpPr>
        <p:spPr>
          <a:xfrm>
            <a:off x="640080" y="3520440"/>
            <a:ext cx="9144000" cy="548640"/>
          </a:xfrm>
          <a:prstGeom prst="rect">
            <a:avLst/>
          </a:prstGeom>
          <a:noFill/>
          <a:ln/>
        </p:spPr>
        <p:txBody>
          <a:bodyPr wrap="square" lIns="0" tIns="0" rIns="0" bIns="0" rtlCol="0" anchor="ctr"/>
          <a:lstStyle/>
          <a:p>
            <a:pPr indent="0" marL="0">
              <a:buNone/>
            </a:pPr>
            <a:r>
              <a:rPr lang="en-US" sz="1800" dirty="0">
                <a:solidFill>
                  <a:srgbClr val="C7CBE8"/>
                </a:solidFill>
                <a:latin typeface="Calibri" pitchFamily="34" charset="0"/>
                <a:ea typeface="Calibri" pitchFamily="34" charset="-122"/>
                <a:cs typeface="Calibri" pitchFamily="34" charset="-120"/>
              </a:rPr>
              <a:t>Questions &amp; Discussion</a:t>
            </a:r>
            <a:endParaRPr lang="en-US" sz="1800" dirty="0"/>
          </a:p>
        </p:txBody>
      </p:sp>
      <p:sp>
        <p:nvSpPr>
          <p:cNvPr id="8" name="Shape 6"/>
          <p:cNvSpPr/>
          <p:nvPr/>
        </p:nvSpPr>
        <p:spPr>
          <a:xfrm>
            <a:off x="658368" y="4206240"/>
            <a:ext cx="2011680" cy="0"/>
          </a:xfrm>
          <a:prstGeom prst="line">
            <a:avLst/>
          </a:prstGeom>
          <a:noFill/>
          <a:ln w="38100">
            <a:solidFill>
              <a:srgbClr val="0E7C7B"/>
            </a:solidFill>
            <a:prstDash val="solid"/>
          </a:ln>
        </p:spPr>
      </p:sp>
      <p:sp>
        <p:nvSpPr>
          <p:cNvPr id="9" name="Text 7"/>
          <p:cNvSpPr/>
          <p:nvPr/>
        </p:nvSpPr>
        <p:spPr>
          <a:xfrm>
            <a:off x="640080" y="4434840"/>
            <a:ext cx="8229600" cy="365760"/>
          </a:xfrm>
          <a:prstGeom prst="rect">
            <a:avLst/>
          </a:prstGeom>
          <a:noFill/>
          <a:ln/>
        </p:spPr>
        <p:txBody>
          <a:bodyPr wrap="square" lIns="0" tIns="0" rIns="0" bIns="0" rtlCol="0" anchor="ctr"/>
          <a:lstStyle/>
          <a:p>
            <a:pPr indent="0" marL="0">
              <a:buNone/>
            </a:pPr>
            <a:r>
              <a:rPr lang="en-US" sz="1200" i="1" dirty="0">
                <a:solidFill>
                  <a:srgbClr val="9AA0C0"/>
                </a:solidFill>
                <a:latin typeface="Calibri" pitchFamily="34" charset="0"/>
                <a:ea typeface="Calibri" pitchFamily="34" charset="-122"/>
                <a:cs typeface="Calibri" pitchFamily="34" charset="-120"/>
              </a:rPr>
              <a:t>Browser-Based Multiplayer Ludo  ·  CSE299 Project Proposal</a:t>
            </a:r>
            <a:endParaRPr lang="en-US" sz="1200" dirty="0"/>
          </a:p>
        </p:txBody>
      </p:sp>
      <p:sp>
        <p:nvSpPr>
          <p:cNvPr id="10" name="Text 8"/>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9AA0C0"/>
                </a:solidFill>
                <a:latin typeface="Calibri" pitchFamily="34" charset="0"/>
                <a:ea typeface="Calibri" pitchFamily="34" charset="-122"/>
                <a:cs typeface="Calibri" pitchFamily="34" charset="-120"/>
              </a:rPr>
              <a:t>CSE299 Project Proposal  |  Literature Review</a:t>
            </a:r>
            <a:endParaRPr lang="en-US" sz="1000" dirty="0"/>
          </a:p>
        </p:txBody>
      </p:sp>
      <p:sp>
        <p:nvSpPr>
          <p:cNvPr id="11" name="Text 9"/>
          <p:cNvSpPr/>
          <p:nvPr/>
        </p:nvSpPr>
        <p:spPr>
          <a:xfrm>
            <a:off x="11365992" y="6473952"/>
            <a:ext cx="457200" cy="274320"/>
          </a:xfrm>
          <a:prstGeom prst="rect">
            <a:avLst/>
          </a:prstGeom>
          <a:noFill/>
          <a:ln/>
        </p:spPr>
        <p:txBody>
          <a:bodyPr wrap="square" lIns="0" tIns="0" rIns="0" bIns="0" rtlCol="0" anchor="ctr"/>
          <a:lstStyle/>
          <a:p>
            <a:pPr algn="r" indent="0" marL="0">
              <a:buNone/>
            </a:pPr>
            <a:r>
              <a:rPr lang="en-US" sz="1000" dirty="0">
                <a:solidFill>
                  <a:srgbClr val="9AA0C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2026-07-13T04:30:04Z</dcterms:created>
  <dcterms:modified xsi:type="dcterms:W3CDTF">2026-07-13T04:30:04Z</dcterms:modified>
</cp:coreProperties>
</file>